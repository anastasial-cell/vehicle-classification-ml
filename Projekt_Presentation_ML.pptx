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14" autoAdjust="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29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33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30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75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46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74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9466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4161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899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128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13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74E98-1D46-46A9-9C82-E44869CE0E1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31060-F7DC-45F2-A31E-CBF76FCB330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620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smtClean="0"/>
              <a:t> 		 </a:t>
            </a:r>
            <a:r>
              <a:rPr lang="de-DE" sz="5400" b="1" dirty="0" smtClean="0"/>
              <a:t>Machine Learning</a:t>
            </a:r>
          </a:p>
          <a:p>
            <a:pPr marL="0" indent="0">
              <a:buNone/>
            </a:pPr>
            <a:r>
              <a:rPr lang="de-DE" sz="5400" b="1"/>
              <a:t> </a:t>
            </a:r>
            <a:r>
              <a:rPr lang="de-DE" sz="5400" b="1" smtClean="0"/>
              <a:t>            </a:t>
            </a:r>
            <a:endParaRPr lang="de-DE" sz="4800" b="1" smtClean="0"/>
          </a:p>
          <a:p>
            <a:pPr marL="0" indent="0">
              <a:buNone/>
            </a:pPr>
            <a:r>
              <a:rPr lang="de-DE" sz="4000" i="1" smtClean="0"/>
              <a:t>Anastasia </a:t>
            </a:r>
            <a:r>
              <a:rPr lang="de-DE" sz="4000" i="1" dirty="0" smtClean="0"/>
              <a:t>Leiker</a:t>
            </a:r>
            <a:endParaRPr lang="de-DE" sz="2400" i="1" dirty="0"/>
          </a:p>
        </p:txBody>
      </p:sp>
    </p:spTree>
    <p:extLst>
      <p:ext uri="{BB962C8B-B14F-4D97-AF65-F5344CB8AC3E}">
        <p14:creationId xmlns:p14="http://schemas.microsoft.com/office/powerpoint/2010/main" val="270235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620688"/>
            <a:ext cx="7772400" cy="1470025"/>
          </a:xfrm>
        </p:spPr>
        <p:txBody>
          <a:bodyPr/>
          <a:lstStyle/>
          <a:p>
            <a:r>
              <a:rPr lang="de-DE" dirty="0" smtClean="0"/>
              <a:t>Datenset</a:t>
            </a:r>
            <a:endParaRPr lang="de-DE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44824"/>
            <a:ext cx="968300" cy="779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utoShape 2" descr="data:image/png;base64,iVBORw0KGgoAAAANSUhEUgAAAhwAAAGVCAYAAAC1qSjxAAAAOnRFWHRTb2Z0d2FyZQBNYXRwbG90bGliIHZlcnNpb24zLjEwLjAsIGh0dHBzOi8vbWF0cGxvdGxpYi5vcmcvlHJYcgAAAAlwSFlzAAAPYQAAD2EBqD+naQAALZZJREFUeJzt3X98zfX///H7GbYxO5ufG5pttGKjEsny/iQ/MlpUCJFWn6i3Zn6spH1ifrzrQ/WOUn4URT9ISfVG8qMRlZFIfov8mGJDbENss72+f/Td+Tg22mbPnTlu18vlXC5ez+fzvF6Pl4523/P1fL2OzbIsSwAAAAZ5uLoAAADg/ggcAADAOAIHAAAwjsABAACMI3AAAADjCBwAAMA4AgcAADCOwAEAAIwjcAAAAOMIHADKjbvuukt33XVXmRzLZrNpzJgxju0xY8bIZrPp+PHjZXL8kJAQPfroo2VyLKA8IHAAZcxmsxXp9c0337i6VCdr167VmDFjlJ6eXqTxjz76qNP5VK1aVQ0aNFCPHj20YMEC5eXluaSuslSeawPKWkVXFwBcaz744AOn7ffff18rVqwo0N64ceOyLOtvrV27VmPHjtWjjz4qf3//Ir3Hy8tLM2fOlCSdPXtWBw8e1KJFi9SjRw/ddddd+s9//iO73e4Yv3z58jKpK7+eihXN/i/wcrXt3r1bHh78zodrB4EDKGMPP/yw0/a6deu0YsWKAu0lYVmWzp07p8qVK1/xvkpDxYoVC5zXCy+8oAkTJighIUEDBgzQxx9/7Ojz9PQ0Wk9eXp6ys7Pl7e0tb29vo8f6O15eXi49PlDWiNdAOTRr1iy1a9dOtWvXlpeXl8LDwzVt2rQC40JCQnTvvfdq2bJlatGihSpXrqy33npLknTw4EF17dpVPj4+ql27toYNG6Zly5YVerlm/fr16tSpk/z8/FSlShW1adNG33//vaN/zJgxGj58uCQpNDTUcZnkwIEDJTq/5557Th07dtT8+fP1yy+/ONoLW8PxxhtvKCIiQlWqVFG1atXUokULzZ07t0h12Ww2DRo0SHPmzFFERIS8vLy0dOlSR9+FazjyHT9+XD179pTdbleNGjU0ZMgQnTt3ztF/4MAB2Ww2zZ49u8B7L9zn39VW2BqOffv26cEHH1T16tVVpUoVtWrVSl9++aXTmG+++UY2m02ffPKJXnzxRV133XXy9vZW+/bttXfv3kv+nQOuxgwHUA5NmzZNERER6tq1qypWrKhFixbpqaeeUl5enmJjY53G7t69Ww899JCefPJJDRgwQDfeeKPOnDmjdu3a6ciRIxoyZIgCAwM1d+5crVq1qsCxVq5cqc6dO6t58+YaPXq0PDw8HIHn22+/VcuWLdWtWzf98ssv+uijjzRp0iTVrFlTklSrVq0Sn2O/fv20fPlyrVixQjfccEOhY2bMmKHBgwerR48ejh/8W7Zs0fr169WnT58i1bVy5Up98sknGjRokGrWrKmQkJDL1tWzZ0+FhIRo/PjxWrdunSZPnqyTJ0/q/fffL9b5FffvLC0tTXfccYf+/PNPDR48WDVq1NB7772nrl276tNPP9UDDzzgNH7ChAny8PDQM888o4yMDL388svq27ev1q9fX6w6gTJjAXCp2NhY6+J/in/++WeBcVFRUVaDBg2c2oKDgy1J1tKlS53aX331VUuS9cUXXzjazp49azVq1MiSZK1atcqyLMvKy8uzwsLCrKioKCsvL8/p+KGhodbdd9/taHvllVcsSdb+/fuLdF4xMTGWj4/PJft/+uknS5I1bNgwR1ubNm2sNm3aOLbvu+8+KyIi4rLHuVxdkiwPDw9r+/bthfaNHj3asT169GhLktW1a1encU899ZQlyfr5558ty7Ks/fv3W5KsWbNm/e0+L1dbcHCwFRMT49geOnSoJcn69ttvHW2nTp2yQkNDrZCQECs3N9eyLMtatWqVJclq3LixlZWV5Rj7+uuvW5KsrVu3FjgWUB5wSQUohy5cg5GRkaHjx4+rTZs22rdvnzIyMpzGhoaGKioqyqlt6dKlqlevnrp27epo8/b21oABA5zGbd68WXv27FGfPn30xx9/6Pjx4zp+/LjOnDmj9u3ba82aNaV2N8nFqlatKkk6derUJcf4+/vrt99+04YNG0p8nDZt2ig8PLzI4y+eQYqLi5MkLVmypMQ1FMWSJUvUsmVL/eMf/3C0Va1aVU888YQOHDigHTt2OI1/7LHHnNa8/Nd//Zekvy7LAOURl1SAcuj777/X6NGjlZycrD///NOpLyMjQ35+fo7t0NDQAu8/ePCgGjZsKJvN5tR+/fXXO23v2bNHkhQTE3PJWjIyMlStWrVin8PfOX36tCTJ19f3kmNGjBihr7/+Wi1bttT111+vjh07qk+fPmrdunWRj1PY38/lhIWFOW03bNhQHh4eJV6vUlQHDx7U7bffXqA9/26lgwcPqkmTJo72+vXrO43L/2908uRJg1UCJUfgAMqZX3/9Ve3bt1ejRo00ceJEBQUFydPTU0uWLNGkSZMKzDhcyR0p+ft65ZVXdMsttxQ6Jn8morRt27ZNUsEQdKHGjRtr9+7dWrx4sZYuXaoFCxZo6tSpSkxM1NixY4t0nCu9Y+fi0Hbxdr7c3NwrOk5xVahQodB2y7LKtA6gqAgcQDmzaNEiZWVlaeHChU6/xRa24PNSgoODtWPHDlmW5fQD8uK7GBo2bChJstvt6tChw2X3eakftCX1wQcfyGaz6e67777sOB8fH/Xq1Uu9evVSdna2unXrphdffFEJCQny9vYu9br27NnjNCuyd+9e5eXlORab5s8kXPwwr4MHDxbYV3FqCw4O1u7duwu079q1y9EPXM1YwwGUM/m/uV74m2pGRoZmzZpV5H1ERUXp999/18KFCx1t586d04wZM5zGNW/eXA0bNtS///1vxyWOCx07dszxZx8fH0kFf9CWxIQJE7R8+XL16tWrwCWMC/3xxx9O256engoPD5dlWcrJySn1uiRpypQpTttvvPGGJKlz586S/gpnNWvW1Jo1a5zGTZ06tcC+ilPbPffcox9++EHJycmOtjNnzujtt99WSEhIsdahAOURMxxAOdOxY0d5enqqS5cuevLJJ3X69GnNmDFDtWvX1pEjR4q0jyeffFJvvvmmHnroIQ0ZMkR16tTRnDlzHA+7yv/N28PDQzNnzlTnzp0VERGhxx57TPXq1dPvv/+uVatWyW63a9GiRZL+CieS9Pzzz6t3796qVKmSunTp4vihWpjz58/rww8/lPRX4Dl48KAWLlyoLVu2qG3btnr77bf/9u8iMDBQrVu3VkBAgHbu3Kk333xT0dHRjrUfJanrcvbv36+uXbuqU6dOSk5O1ocffqg+ffro5ptvdozp37+/JkyYoP79+6tFixZas2aN0/NE8hWntueee04fffSROnfurMGDB6t69ep67733tH//fi1YsICnkuLq59qbZAAUdlvswoULrZtuusny9va2QkJCrJdeesl69913C9xiGRwcbEVHRxe633379lnR0dFW5cqVrVq1allPP/20tWDBAkuStW7dOqexP/30k9WtWzerRo0alpeXlxUcHGz17NnTSkpKchr3r3/9y6pXr57l4eHxt7fIxsTEWJIcrypVqlghISFW9+7drU8//dRxm+eFLr4t9q233rLuvPNOR10NGza0hg8fbmVkZBSpLklWbGxsofXpErfF7tixw+rRo4fl6+trVatWzRo0aJB19uxZp/f++eef1uOPP275+flZvr6+Vs+ePa2jR48W2Oflarv4tljLsqxff/3V6tGjh+Xv7295e3tbLVu2tBYvXuw0Jv+22Pnz5zu1X+52XaA8sFkWK4yAa8Vrr72mYcOG6bffflO9evVcXQ6AawiBA3BTZ8+edbpD49y5c2rWrJlyc3MLnf4HAJNYwwG4qW7duql+/fq65ZZblJGRoQ8//FC7du3SnDlzXF0agGsQgQNwU1FRUZo5c6bmzJmj3NxchYeHa968eerVq5erSwNwDeKSCgAAMI77rAAAgHEEDgAAYBxrOPTX90kcPnxYvr6+pf6YZAAA3JllWTp16pTq1q172QfUETgkHT58WEFBQa4uAwCAq9ahQ4d03XXXXbKfwKH/+3rsQ4cOyW63u7gaAACuHpmZmQoKCnL8LL0UAof+73sl7HY7gQMAgBL4uyUJLBoFAADGETgAAIBxBA4AAGAcgQMAABhH4AAAAMYROAAAgHEEDgAAYByBAwAAGEfgAAAAxhE4AACAcQQOAABgHIEDAAAYx5e3lXMhz33p6hKuSgcmRLu6BADABZjhAAAAxhE4AACAcQQOAABgHIEDAAAYR+AAAADGETgAAIBxBA4AAGAcgQMAABhH4AAAAMYROAAAgHEEDgAAYByBAwAAGEfgAAAAxhE4AACAceUmcEyYMEE2m01Dhw51tJ07d06xsbGqUaOGqlatqu7duystLc3pfSkpKYqOjlaVKlVUu3ZtDR8+XOfPny/j6gEAwOWUi8CxYcMGvfXWW7rpppuc2ocNG6ZFixZp/vz5Wr16tQ4fPqxu3bo5+nNzcxUdHa3s7GytXbtW7733nmbPnq3ExMSyPgUAAHAZLg8cp0+fVt++fTVjxgxVq1bN0Z6RkaF33nlHEydOVLt27dS8eXPNmjVLa9eu1bp16yRJy5cv144dO/Thhx/qlltuUefOnfWvf/1LU6ZMUXZ2tqtOCQAAXMTlgSM2NlbR0dHq0KGDU/vGjRuVk5Pj1N6oUSPVr19fycnJkqTk5GQ1bdpUAQEBjjFRUVHKzMzU9u3by+YEAADA36royoPPmzdPmzZt0oYNGwr0paamytPTU/7+/k7tAQEBSk1NdYy5MGzk9+f3XUpWVpaysrIc25mZmSU9BQAAUAQum+E4dOiQhgwZojlz5sjb27tMjz1+/Hj5+fk5XkFBQWV6fAAArjUuCxwbN27U0aNHdeutt6pixYqqWLGiVq9ercmTJ6tixYoKCAhQdna20tPTnd6XlpamwMBASVJgYGCBu1byt/PHFCYhIUEZGRmO16FDh0r35AAAgBOXBY727dtr69at2rx5s+PVokUL9e3b1/HnSpUqKSkpyfGe3bt3KyUlRZGRkZKkyMhIbd26VUePHnWMWbFihex2u8LDwy95bC8vL9ntdqcXAAAwx2VrOHx9fdWkSROnNh8fH9WoUcPR/vjjjys+Pl7Vq1eX3W5XXFycIiMj1apVK0lSx44dFR4ern79+unll19WamqqRo4cqdjYWHl5eZX5OQEAgMK5dNHo35k0aZI8PDzUvXt3ZWVlKSoqSlOnTnX0V6hQQYsXL9bAgQMVGRkpHx8fxcTEaNy4cS6sGgAAXMxmWZbl6iJcLTMzU35+fsrIyCh3l1dCnvvS1SVclQ5MiHZ1CQBwTSjqz1CXP4cDAAC4PwIHAAAwjsABAACMI3AAAADjCBwAAMA4AgcAADCOwAEAAIwjcAAAAOMIHAAAwDgCBwAAMI7AAQAAjCNwAAAA4wgcAADAOAIHAAAwjsABAACMI3AAAADjCBwAAMA4AgcAADCOwAEAAIwjcAAAAOMIHAAAwDgCBwAAMI7AAQAAjCNwAAAA4wgcAADAOAIHAAAwjsABAACMI3AAAADjCBwAAMA4AgcAADCOwAEAAIwjcAAAAOMIHAAAwDgCBwAAMI7AAQAAjCNwAAAA4wgcAADAOAIHAAAwjsABAACMI3AAAADjCBwAAMA4AgcAADCOwAEAAIwjcAAAAOMIHAAAwDgCBwAAMI7AAQAAjCNwAAAA4wgcAADAOAIHAAAwjsABAACMI3AAAADjCBwAAMA4AgcAADCOwAEAAIwjcAAAAOMIHAAAwDgCBwAAMM6lgWPatGm66aabZLfbZbfbFRkZqa+++srRf+7cOcXGxqpGjRqqWrWqunfvrrS0NKd9pKSkKDo6WlWqVFHt2rU1fPhwnT9/vqxPBQAAXIZLA8d1112nCRMmaOPGjfrxxx/Vrl073Xfffdq+fbskadiwYVq0aJHmz5+v1atX6/Dhw+rWrZvj/bm5uYqOjlZ2drbWrl2r9957T7Nnz1ZiYqKrTgkAABTCZlmW5eoiLlS9enW98sor6tGjh2rVqqW5c+eqR48ekqRdu3apcePGSk5OVqtWrfTVV1/p3nvv1eHDhxUQECBJmj59ukaMGKFjx47J09OzSMfMzMyUn5+fMjIyZLfbjZ1bSYQ896WrS7gqHZgQ7eoSAOCaUNSfoeVmDUdubq7mzZunM2fOKDIyUhs3blROTo46dOjgGNOoUSPVr19fycnJkqTk5GQ1bdrUETYkKSoqSpmZmY5ZksJkZWUpMzPT6QUAAMxxeeDYunWrqlatKi8vL/3zn//U559/rvDwcKWmpsrT01P+/v5O4wMCApSamipJSk1NdQob+f35fZcyfvx4+fn5OV5BQUGle1IAAMCJywPHjTfeqM2bN2v9+vUaOHCgYmJitGPHDqPHTEhIUEZGhuN16NAho8cDAOBaV9HVBXh6eur666+XJDVv3lwbNmzQ66+/rl69eik7O1vp6elOsxxpaWkKDAyUJAUGBuqHH35w2l/+XSz5Ywrj5eUlLy+vUj4TAABwKS6f4bhYXl6esrKy1Lx5c1WqVElJSUmOvt27dyslJUWRkZGSpMjISG3dulVHjx51jFmxYoXsdrvCw8PLvHYAAFA4l85wJCQkqHPnzqpfv75OnTqluXPn6ptvvtGyZcvk5+enxx9/XPHx8apevbrsdrvi4uIUGRmpVq1aSZI6duyo8PBw9evXTy+//LJSU1M1cuRIxcbGMoMBAEA54tLAcfToUT3yyCM6cuSI/Pz8dNNNN2nZsmW6++67JUmTJk2Sh4eHunfvrqysLEVFRWnq1KmO91eoUEGLFy/WwIEDFRkZKR8fH8XExGjcuHGuOiUAAFCIcvccDlfgORzuh+dwAEDZuOqewwEAANwXgQMAABhH4AAAAMYROAAAgHEEDgAAYByBAwAAGEfgAAAAxhE4AACAcQQOAABgHIEDAAAYR+AAAADGETgAAIBxBA4AAGAcgQMAABhH4AAAAMYROAAAgHEEDgAAYByBAwAAGEfgAAAAxhE4AACAcQQOAABgHIEDAAAYR+AAAADGETgAAIBxBA4AAGAcgQMAABhXosDRoEED/fHHHwXa09PT1aBBgysuCgAAuJcSBY4DBw4oNze3QHtWVpZ+//33Ky4KAAC4l4rFGbxw4ULHn5ctWyY/Pz/Hdm5urpKSkhQSElJqxQEAAPdQrMBx//33S5JsNptiYmKc+ipVqqSQkBC9+uqrpVYcAABwD8UKHHl5eZKk0NBQbdiwQTVr1jRSFAAAcC/FChz59u/fX9p1AAAAN1aiwCFJSUlJSkpK0tGjRx0zH/nefffdKy4MAAC4jxIFjrFjx2rcuHFq0aKF6tSpI5vNVtp1AQAAN1KiwDF9+nTNnj1b/fr1K+16AACAGyrRcziys7N1xx13lHYtAADATZUocPTv319z584t7VoAAICbKtEllXPnzuntt9/W119/rZtuukmVKlVy6p84cWKpFAcAANxDiQLHli1bdMstt0iStm3b5tTHAlIAAHCxEgWOVatWlXYdAADAjfH19AAAwLgSzXC0bdv2spdOVq5cWeKCAACA+ylR4Mhfv5EvJydHmzdv1rZt2wp8qRsAAECJAsekSZMKbR8zZoxOnz59RQUBAAD3U6prOB5++GG+RwUAABRQqoEjOTlZ3t7epblLAADgBkp0SaVbt25O25Zl6ciRI/rxxx81atSoUikMAAC4jxIFDj8/P6dtDw8P3XjjjRo3bpw6duxYKoUBAAD3UaLAMWvWrNKuAwAAuLESBY58Gzdu1M6dOyVJERERatasWakUBaDshTz3patLuCodmBDt6hKAq0KJAsfRo0fVu3dvffPNN/L395ckpaenq23btpo3b55q1apVmjUCAICrXInuUomLi9OpU6e0fft2nThxQidOnNC2bduUmZmpwYMHl3aNAADgKleiGY6lS5fq66+/VuPGjR1t4eHhmjJlCotGAQBAASWa4cjLy1OlSpUKtFeqVEl5eXlXXBQAAHAvJQoc7dq105AhQ3T48GFH2++//65hw4apffv2pVYcAABwDyUKHG+++aYyMzMVEhKihg0bqmHDhgoNDVVmZqbeeOON0q4RAABc5Uq0hiMoKEibNm3S119/rV27dkmSGjdurA4dOpRqcQAAwD0Ua4Zj5cqVCg8PV2Zmpmw2m+6++27FxcUpLi5Ot912myIiIvTtt98WeX/jx4/XbbfdJl9fX9WuXVv333+/du/e7TTm3Llzio2NVY0aNVS1alV1795daWlpTmNSUlIUHR2tKlWqqHbt2ho+fLjOnz9fnFMDAAAGFStwvPbaaxowYIDsdnuBPj8/Pz355JOaOHFikfe3evVqxcbGat26dVqxYoVycnLUsWNHnTlzxjFm2LBhWrRokebPn6/Vq1fr8OHDTt/lkpubq+joaGVnZ2vt2rV67733NHv2bCUmJhbn1AAAgEE2y7Ksog4ODg7W0qVLnW6HvdCuXbvUsWNHpaSklKiYY8eOqXbt2lq9erXuvPNOZWRkqFatWpo7d6569OjhOEbjxo2VnJysVq1a6auvvtK9996rw4cPKyAgQJI0ffp0jRgxQseOHZOnp+ffHjczM1N+fn7KyMgoNEy5Ek9/LBme/lh8fNZKhs8arnVF/RlarBmOtLS0Qm+HzVexYkUdO3asOLt0kpGRIUmqXr26pL8enZ6Tk+O0NqRRo0aqX7++kpOTJUnJyclq2rSpI2xIUlRUlDIzM7V9+/ZCj5OVlaXMzEynFwAAMKdYgaNevXratm3bJfu3bNmiOnXqlKiQvLw8DR06VK1bt1aTJk0kSampqfL09HQ8Pj1fQECAUlNTHWMuDBv5/fl9hRk/frz8/Pwcr6CgoBLVDAAAiqZYd6ncc889GjVqlDp16iRvb2+nvrNnz2r06NG69957S1RIbGystm3bpu+++65E7y+OhIQExcfHO7YzMzMJHQBQRrh8VzJX++W7YgWOkSNH6rPPPtMNN9ygQYMG6cYbb5T017qKKVOmKDc3V88//3yxixg0aJAWL16sNWvW6LrrrnO0BwYGKjs7W+np6U6zHGlpaQoMDHSM+eGHH5z2l38XS/6Yi3l5ecnLy6vYdQIAgJIp1iWVgIAArV27Vk2aNFFCQoIeeOABPfDAA/qf//kfNWnSRN99912ByxuXY1mWBg0apM8//1wrV65UaGioU3/z5s1VqVIlJSUlOdp2796tlJQURUZGSpIiIyO1detWHT161DFmxYoVstvtCg8PL87pAQAAQ4r94K/g4GAtWbJEJ0+e1N69e2VZlsLCwlStWrViHzw2NlZz587Vf/7zH/n6+jrWXPj5+aly5cry8/PT448/rvj4eFWvXl12u11xcXGKjIxUq1atJEkdO3ZUeHi4+vXrp5dfflmpqakaOXKkYmNjmcUAAKCcKNGTRiWpWrVquu22267o4NOmTZMk3XXXXU7ts2bN0qOPPipJmjRpkjw8PNS9e3dlZWUpKipKU6dOdYytUKGCFi9erIEDByoyMlI+Pj6KiYnRuHHjrqg2AABQekocOEpDUR4B4u3trSlTpmjKlCmXHJM/6wIAAMqnEn15GwAAQHEQOAAAgHEEDgAAYByBAwAAGEfgAAAAxhE4AACAcQQOAABgHIEDAAAYR+AAAADGETgAAIBxBA4AAGAcgQMAABhH4AAAAMYROAAAgHEEDgAAYByBAwAAGEfgAAAAxhE4AACAcQQOAABgHIEDAAAYR+AAAADGETgAAIBxBA4AAGAcgQMAABhH4AAAAMYROAAAgHEEDgAAYByBAwAAGEfgAAAAxhE4AACAcQQOAABgHIEDAAAYR+AAAADGETgAAIBxBA4AAGAcgQMAABhH4AAAAMYROAAAgHEEDgAAYByBAwAAGEfgAAAAxhE4AACAcQQOAABgHIEDAAAYR+AAAADGETgAAIBxBA4AAGAcgQMAABhH4AAAAMYROAAAgHEEDgAAYByBAwAAGEfgAAAAxhE4AACAcQQOAABgHIEDAAAYR+AAAADGuTRwrFmzRl26dFHdunVls9n0xRdfOPVblqXExETVqVNHlStXVocOHbRnzx6nMSdOnFDfvn1lt9vl7++vxx9/XKdPny7DswAAAH/HpYHjzJkzuvnmmzVlypRC+19++WVNnjxZ06dP1/r16+Xj46OoqCidO3fOMaZv377avn27VqxYocWLF2vNmjV64oknyuoUAABAEVR05cE7d+6szp07F9pnWZZee+01jRw5Uvfdd58k6f3331dAQIC++OIL9e7dWzt37tTSpUu1YcMGtWjRQpL0xhtv6J577tG///1v1a1bt8zOBQAAXFq5XcOxf/9+paamqkOHDo42Pz8/3X777UpOTpYkJScny9/f3xE2JKlDhw7y8PDQ+vXry7xmAABQOJfOcFxOamqqJCkgIMCpPSAgwNGXmpqq2rVrO/VXrFhR1atXd4wpTFZWlrKyshzbmZmZpVU2AAAoRLmd4TBp/Pjx8vPzc7yCgoJcXRIAAG6t3AaOwMBASVJaWppTe1pamqMvMDBQR48edeo/f/68Tpw44RhTmISEBGVkZDhehw4dKuXqAQDAhcpt4AgNDVVgYKCSkpIcbZmZmVq/fr0iIyMlSZGRkUpPT9fGjRsdY1auXKm8vDzdfvvtl9y3l5eX7Ha70wsAAJjj0jUcp0+f1t69ex3b+/fv1+bNm1W9enXVr19fQ4cO1QsvvKCwsDCFhoZq1KhRqlu3ru6//35JUuPGjdWpUycNGDBA06dPV05OjgYNGqTevXtzhwoAAOWISwPHjz/+qLZt2zq24+PjJUkxMTGaPXu2nn32WZ05c0ZPPPGE0tPT9Y9//ENLly6Vt7e34z1z5szRoEGD1L59e3l4eKh79+6aPHlymZ8LAAC4NJcGjrvuukuWZV2y32azady4cRo3btwlx1SvXl1z5841UR4AACgl5XYNBwAAcB8EDgAAYByBAwAAGEfgAAAAxhE4AACAcQQOAABgHIEDAAAYR+AAAADGETgAAIBxBA4AAGAcgQMAABhH4AAAAMYROAAAgHEEDgAAYByBAwAAGEfgAAAAxhE4AACAcQQOAABgHIEDAAAYR+AAAADGETgAAIBxBA4AAGAcgQMAABhH4AAAAMYROAAAgHEEDgAAYByBAwAAGEfgAAAAxhE4AACAcQQOAABgHIEDAAAYR+AAAADGETgAAIBxBA4AAGAcgQMAABhH4AAAAMYROAAAgHEEDgAAYByBAwAAGEfgAAAAxhE4AACAcQQOAABgHIEDAAAYR+AAAADGETgAAIBxBA4AAGAcgQMAABhH4AAAAMYROAAAgHEEDgAAYByBAwAAGEfgAAAAxhE4AACAcQQOAABgHIEDAAAYR+AAAADGETgAAIBxBA4AAGCc2wSOKVOmKCQkRN7e3rr99tv1ww8/uLokAADw/7lF4Pj4448VHx+v0aNHa9OmTbr55psVFRWlo0ePuro0AAAgNwkcEydO1IABA/TYY48pPDxc06dPV5UqVfTuu++6ujQAACCpoqsLuFLZ2dnauHGjEhISHG0eHh7q0KGDkpOTC31PVlaWsrKyHNsZGRmSpMzMTLPFlkBe1p+uLuGqVB7/W5Z3fNZKhs9a8fFZK5ny+lnLr8uyrMuOu+oDx/Hjx5Wbm6uAgACn9oCAAO3atavQ94wfP15jx44t0B4UFGSkRpQ9v9dcXQGuFXzWUFbK+2ft1KlT8vPzu2T/VR84SiIhIUHx8fGO7by8PJ04cUI1atSQzWZzYWVXj8zMTAUFBenQoUOy2+2uLgdujM8aygqftZKxLEunTp1S3bp1Lzvuqg8cNWvWVIUKFZSWlubUnpaWpsDAwELf4+XlJS8vL6c2f39/UyW6Nbvdzj9MlAk+aygrfNaK73IzG/mu+kWjnp6eat68uZKSkhxteXl5SkpKUmRkpAsrAwAA+a76GQ5Jio+PV0xMjFq0aKGWLVvqtdde05kzZ/TYY4+5ujQAACA3CRy9evXSsWPHlJiYqNTUVN1yyy1aunRpgYWkKD1eXl4aPXp0gUtTQGnjs4aywmfNLJv1d/exAAAAXKGrfg0HAAAo/wgcAADAOAIHAAAwjsABAACMI3AAAADjCBwokpycHFWsWFHbtm1zdSkAgKuQWzyHA+ZVqlRJ9evXV25urqtLwTUqPT2dryCAEXv27NGqVat09OhR5eXlOfUlJia6qCr3w3M4UGTvvPOOPvvsM33wwQeqXr26q8uBG3vppZcUEhKiXr16SZJ69uypBQsWKDAwUEuWLNHNN9/s4grhLmbMmKGBAweqZs2aCgwMdPoCT5vNpk2bNrmwOvdC4ECRNWvWTHv37lVOTo6Cg4Pl4+Pj1M8/TJSW0NBQzZkzR3fccYdWrFihnj176uOPP9Ynn3yilJQULV++3NUlwk0EBwfrqaee0ogRI1xditvjkgqK7P7773d1CbhGpKamKigoSJK0ePFi9ezZUx07dlRISIhuv/12F1cHd3Ly5Ek9+OCDri7jmkDgQJGNHj3a1SXgGlGtWjUdOnRIQUFBWrp0qV544QVJkmVZrCNCqXrwwQe1fPly/fOf/3R1KW6PwAGg3OnWrZv69OmjsLAw/fHHH+rcubMk6aefftL111/v4urgTq6//nqNGjVK69atU9OmTVWpUiWn/sGDB7uoMvfDGg4UWW5uriZNmuS4jp6dne3Uf+LECRdVBneTk5Oj119/XYcOHdKjjz6qZs2aSZImTZokX19f9e/f38UVwl2EhoZess9ms2nfvn1lWI17I3CgyBITEzVz5kw9/fTTGjlypJ5//nkdOHBAX3zxhRITE/lNAABwSQQOFFnDhg01efJkRUdHy9fXV5s3b3a0rVu3TnPnznV1iXAT77///mX7H3nkkTKqBEBpIXCgyHx8fLRz507Vr19fderU0Zdffqlbb71V+/btU7NmzZSRkeHqEuEmqlWr5rSdk5OjP//8U56enqpSpQqX71CqfvvtNy1cuLDQS8UTJ050UVXuh0WjKLLrrrtOR44cUf369dWwYUMtX75ct956qzZs2CAvLy9Xlwc3cvLkyQJte/bs0cCBAzV8+HAXVAR3lZSUpK5du6pBgwbatWuXmjRpogMHDsiyLN16662uLs+t8F0qKLIHHnhASUlJkqS4uDiNGjVKYWFheuSRR/Tf//3fLq4O7i4sLEwTJkzQkCFDXF0K3EhCQoKeeeYZbd26Vd7e3lqwYIEOHTqkNm3a8HyOUsYlFZTYunXrtHbtWoWFhalLly6uLgfXgM2bN+vOO+9UZmamq0uBm7hwPVq1atX03XffKSIiQj///LPuu+8+HThwwNUlug0uqaDIxo8fr4CAAMdsRqtWrdSqVSu9++67eumll3g0MErNwoULnbYty9KRI0f05ptvqnXr1i6qCu7Ix8fHsW6jTp06+vXXXxURESFJOn78uCtLczsEDhTZW2+9VeidKBEREerduzeBA6Xm4sfo22w21apVS+3atdOrr77qmqLgllq1aqXvvvtOjRs31j333KOnn35aW7du1WeffaZWrVq5ujy3QuBAkaWmpqpOnToF2mvVqqUjR464oCK4qwu/Ijz/zx4eLDlD6Zs4caJOnz4tSRo7dqxOnz6tjz/+WGFhYdyhUsr4F4wiCwoK0vfff1+g/fvvv1fdunVdUBHc2TvvvKMmTZqocuXKqly5spo0aaKZM2e6uiy4mf/93/913Gbt4+Oj6dOna8uWLVqwYIGCg4NdXJ17YYYDRTZgwAANHTpUOTk5ateunaS/bil79tln9fTTT7u4OriTxMRETZw4UXFxcYqMjJQkJScna9iwYUpJSdG4ceNcXCHcxbFjx9SpUyfVqlVLvXv31sMPP6ybb77Z1WW5Je5SQZFZlqXnnntOkydPdiyy8vb21ogRI5SYmOji6uBOatWqpcmTJ+uhhx5yav/oo48UFxfHYj6UqpMnT2r+/PmaO3euvv32WzVq1Eh9+/ZVnz59FBIS4ury3AaBA8V2+vRp7dy5U5UrV1ZYWBgP/UKp8/f314YNGxQWFubU/ssvv6hly5ZKT093TWFwe7/99ps++ugjvfvuu9qzZ4/Onz/v6pLcBms4UGxVq1bVbbfdpiZNmhA2YES/fv00bdq0Au1vv/22+vbt64KKcC3IycnRjz/+qPXr1+vAgQMKCAhwdUluhTUcAMqF+Ph4x59tNptmzpyp5cuXO25NXL9+vVJSUvjiNpS6VatWae7cuVqwYIHy8vLUrVs3LV682LFWDaWDSyoAyoW2bdsWaZzNZtPKlSsNV4NrRb169XTixAl16tRJffv2VZcuXZi5NYTAAQC4Zs2YMUMPPvig/P39XV2K2yNwAAAA41g0CgAAjCNwAAAA4wgcAADAOAIHgHLBZrPpiy++cHUZAAwhcAAoE6mpqYqLi1ODBg3k5eWloKAgdenSRUlJSa4uDUAZ4MFfAIw7cOCAWrduLX9/f73yyitq2rSpcnJytGzZMsXGxmrXrl2uLhGAYcxwADDuqaeeks1m0w8//KDu3bvrhhtuUEREhOLj47Vu3bpC3zNixAjdcMMNqlKliho0aKBRo0YpJyfH0f/zzz+rbdu28vX1ld1uV/PmzfXjjz9Kkg4ePKguXbqoWrVq8vHxUUREhJYsWVIm5wqgcMxwADDqxIkTWrp0qV588UX5+PgU6L/UA5d8fX01e/Zs1a1bV1u3btWAAQPk6+urZ599VpLUt29fNWvWTNOmTVOFChW0efNmVapUSZIUGxur7OxsrVmzRj4+PtqxY4eqVq1q7BwB/D0CBwCj9u7dK8uy1KhRo2K9b+TIkY4/h4SE6JlnntG8efMcgSMlJUXDhw937PfCb5ZNSUlR9+7d1bRpU0lSgwYNrvQ0AFwhLqkAMKqkDzP++OOP1bp1awUGBqpq1aoaOXKkUlJSHP3x8fHq37+/OnTooAkTJujXX3919A0ePFgvvPCCWrdurdGjR2vLli1XfB4ArgyBA4BRYWFhstlsxVoYmpycrL59++qee+7R4sWL9dNPP+n5559Xdna2Y8yYMWO0fft2RUdHa+XKlQoPD9fnn38uSerfv7/27dunfv36aevWrWrRooXeeOONUj83AEXHd6kAMK5z587aunWrdu/eXWAdR3p6uvz9/WWz2fT555/r/vvv16uvvqqpU6c6zVr0799fn376qdLT0ws9xkMPPaQzZ85o4cKFBfoSEhL05ZdfMtMBuBAzHACMmzJlinJzc9WyZUstWLBAe/bs0c6dOzV58mRFRkYWGB8WFqaUlBTNmzdPv/76qyZPnuyYvZCks2fPatCgQfrmm2908OBBff/999qwYYMaN24sSRo6dKiWLVum/fv3a9OmTVq1apWjD4BrsGgUgHENGjTQpk2b9OKLL+rpp5/WkSNHVKtWLTVv3lzTpk0rML5r164aNmyYBg0apKysLEVHR2vUqFEaM2aMJKlChQr6448/9MgjjygtLU01a9ZUt27dNHbsWElSbm6uYmNj9dtvv8lut6tTp06aNGlSWZ4ygItwSQUAABjHJRUAAGAcgQMAABhH4AAAAMYROAAAgHEEDgAAYByBAwAAGEfgAAAAxhE4AACAcQQOAABgHIEDAAAYR+AAAADGETgAAIBx/w/8wCR6e9IEW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" name="AutoShape 4" descr="data:image/png;base64,iVBORw0KGgoAAAANSUhEUgAAAhwAAAGVCAYAAAC1qSjxAAAAOnRFWHRTb2Z0d2FyZQBNYXRwbG90bGliIHZlcnNpb24zLjEwLjAsIGh0dHBzOi8vbWF0cGxvdGxpYi5vcmcvlHJYcgAAAAlwSFlzAAAPYQAAD2EBqD+naQAALZZJREFUeJzt3X98zfX///H7GbYxO5ufG5pttGKjEsny/iQ/MlpUCJFWn6i3Zn6spH1ifrzrQ/WOUn4URT9ISfVG8qMRlZFIfov8mGJDbENss72+f/Td+Tg22mbPnTlu18vlXC5ez+fzvF6Pl4523/P1fL2OzbIsSwAAAAZ5uLoAAADg/ggcAADAOAIHAAAwjsABAACMI3AAAADjCBwAAMA4AgcAADCOwAEAAIwjcAAAAOMIHADKjbvuukt33XVXmRzLZrNpzJgxju0xY8bIZrPp+PHjZXL8kJAQPfroo2VyLKA8IHAAZcxmsxXp9c0337i6VCdr167VmDFjlJ6eXqTxjz76qNP5VK1aVQ0aNFCPHj20YMEC5eXluaSuslSeawPKWkVXFwBcaz744AOn7ffff18rVqwo0N64ceOyLOtvrV27VmPHjtWjjz4qf3//Ir3Hy8tLM2fOlCSdPXtWBw8e1KJFi9SjRw/ddddd+s9//iO73e4Yv3z58jKpK7+eihXN/i/wcrXt3r1bHh78zodrB4EDKGMPP/yw0/a6deu0YsWKAu0lYVmWzp07p8qVK1/xvkpDxYoVC5zXCy+8oAkTJighIUEDBgzQxx9/7Ojz9PQ0Wk9eXp6ys7Pl7e0tb29vo8f6O15eXi49PlDWiNdAOTRr1iy1a9dOtWvXlpeXl8LDwzVt2rQC40JCQnTvvfdq2bJlatGihSpXrqy33npLknTw4EF17dpVPj4+ql27toYNG6Zly5YVerlm/fr16tSpk/z8/FSlShW1adNG33//vaN/zJgxGj58uCQpNDTUcZnkwIEDJTq/5557Th07dtT8+fP1yy+/ONoLW8PxxhtvKCIiQlWqVFG1atXUokULzZ07t0h12Ww2DRo0SHPmzFFERIS8vLy0dOlSR9+FazjyHT9+XD179pTdbleNGjU0ZMgQnTt3ztF/4MAB2Ww2zZ49u8B7L9zn39VW2BqOffv26cEHH1T16tVVpUoVtWrVSl9++aXTmG+++UY2m02ffPKJXnzxRV133XXy9vZW+/bttXfv3kv+nQOuxgwHUA5NmzZNERER6tq1qypWrKhFixbpqaeeUl5enmJjY53G7t69Ww899JCefPJJDRgwQDfeeKPOnDmjdu3a6ciRIxoyZIgCAwM1d+5crVq1qsCxVq5cqc6dO6t58+YaPXq0PDw8HIHn22+/VcuWLdWtWzf98ssv+uijjzRp0iTVrFlTklSrVq0Sn2O/fv20fPlyrVixQjfccEOhY2bMmKHBgwerR48ejh/8W7Zs0fr169WnT58i1bVy5Up98sknGjRokGrWrKmQkJDL1tWzZ0+FhIRo/PjxWrdunSZPnqyTJ0/q/fffL9b5FffvLC0tTXfccYf+/PNPDR48WDVq1NB7772nrl276tNPP9UDDzzgNH7ChAny8PDQM888o4yMDL388svq27ev1q9fX6w6gTJjAXCp2NhY6+J/in/++WeBcVFRUVaDBg2c2oKDgy1J1tKlS53aX331VUuS9cUXXzjazp49azVq1MiSZK1atcqyLMvKy8uzwsLCrKioKCsvL8/p+KGhodbdd9/taHvllVcsSdb+/fuLdF4xMTGWj4/PJft/+uknS5I1bNgwR1ubNm2sNm3aOLbvu+8+KyIi4rLHuVxdkiwPDw9r+/bthfaNHj3asT169GhLktW1a1encU899ZQlyfr5558ty7Ks/fv3W5KsWbNm/e0+L1dbcHCwFRMT49geOnSoJcn69ttvHW2nTp2yQkNDrZCQECs3N9eyLMtatWqVJclq3LixlZWV5Rj7+uuvW5KsrVu3FjgWUB5wSQUohy5cg5GRkaHjx4+rTZs22rdvnzIyMpzGhoaGKioqyqlt6dKlqlevnrp27epo8/b21oABA5zGbd68WXv27FGfPn30xx9/6Pjx4zp+/LjOnDmj9u3ba82aNaV2N8nFqlatKkk6derUJcf4+/vrt99+04YNG0p8nDZt2ig8PLzI4y+eQYqLi5MkLVmypMQ1FMWSJUvUsmVL/eMf/3C0Va1aVU888YQOHDigHTt2OI1/7LHHnNa8/Nd//Zekvy7LAOURl1SAcuj777/X6NGjlZycrD///NOpLyMjQ35+fo7t0NDQAu8/ePCgGjZsKJvN5tR+/fXXO23v2bNHkhQTE3PJWjIyMlStWrVin8PfOX36tCTJ19f3kmNGjBihr7/+Wi1bttT111+vjh07qk+fPmrdunWRj1PY38/lhIWFOW03bNhQHh4eJV6vUlQHDx7U7bffXqA9/26lgwcPqkmTJo72+vXrO43L/2908uRJg1UCJUfgAMqZX3/9Ve3bt1ejRo00ceJEBQUFydPTU0uWLNGkSZMKzDhcyR0p+ft65ZVXdMsttxQ6Jn8morRt27ZNUsEQdKHGjRtr9+7dWrx4sZYuXaoFCxZo6tSpSkxM1NixY4t0nCu9Y+fi0Hbxdr7c3NwrOk5xVahQodB2y7LKtA6gqAgcQDmzaNEiZWVlaeHChU6/xRa24PNSgoODtWPHDlmW5fQD8uK7GBo2bChJstvt6tChw2X3eakftCX1wQcfyGaz6e67777sOB8fH/Xq1Uu9evVSdna2unXrphdffFEJCQny9vYu9br27NnjNCuyd+9e5eXlORab5s8kXPwwr4MHDxbYV3FqCw4O1u7duwu079q1y9EPXM1YwwGUM/m/uV74m2pGRoZmzZpV5H1ERUXp999/18KFCx1t586d04wZM5zGNW/eXA0bNtS///1vxyWOCx07dszxZx8fH0kFf9CWxIQJE7R8+XL16tWrwCWMC/3xxx9O256engoPD5dlWcrJySn1uiRpypQpTttvvPGGJKlz586S/gpnNWvW1Jo1a5zGTZ06tcC+ilPbPffcox9++EHJycmOtjNnzujtt99WSEhIsdahAOURMxxAOdOxY0d5enqqS5cuevLJJ3X69GnNmDFDtWvX1pEjR4q0jyeffFJvvvmmHnroIQ0ZMkR16tTRnDlzHA+7yv/N28PDQzNnzlTnzp0VERGhxx57TPXq1dPvv/+uVatWyW63a9GiRZL+CieS9Pzzz6t3796qVKmSunTp4vihWpjz58/rww8/lPRX4Dl48KAWLlyoLVu2qG3btnr77bf/9u8iMDBQrVu3VkBAgHbu3Kk333xT0dHRjrUfJanrcvbv36+uXbuqU6dOSk5O1ocffqg+ffro5ptvdozp37+/JkyYoP79+6tFixZas2aN0/NE8hWntueee04fffSROnfurMGDB6t69ep67733tH//fi1YsICnkuLq59qbZAAUdlvswoULrZtuusny9va2QkJCrJdeesl69913C9xiGRwcbEVHRxe633379lnR0dFW5cqVrVq1allPP/20tWDBAkuStW7dOqexP/30k9WtWzerRo0alpeXlxUcHGz17NnTSkpKchr3r3/9y6pXr57l4eHxt7fIxsTEWJIcrypVqlghISFW9+7drU8//dRxm+eFLr4t9q233rLuvPNOR10NGza0hg8fbmVkZBSpLklWbGxsofXpErfF7tixw+rRo4fl6+trVatWzRo0aJB19uxZp/f++eef1uOPP275+flZvr6+Vs+ePa2jR48W2Oflarv4tljLsqxff/3V6tGjh+Xv7295e3tbLVu2tBYvXuw0Jv+22Pnz5zu1X+52XaA8sFkWK4yAa8Vrr72mYcOG6bffflO9evVcXQ6AawiBA3BTZ8+edbpD49y5c2rWrJlyc3MLnf4HAJNYwwG4qW7duql+/fq65ZZblJGRoQ8//FC7du3SnDlzXF0agGsQgQNwU1FRUZo5c6bmzJmj3NxchYeHa968eerVq5erSwNwDeKSCgAAMI77rAAAgHEEDgAAYBxrOPTX90kcPnxYvr6+pf6YZAAA3JllWTp16pTq1q172QfUETgkHT58WEFBQa4uAwCAq9ahQ4d03XXXXbKfwKH/+3rsQ4cOyW63u7gaAACuHpmZmQoKCnL8LL0UAof+73sl7HY7gQMAgBL4uyUJLBoFAADGETgAAIBxBA4AAGAcgQMAABhH4AAAAMYROAAAgHEEDgAAYByBAwAAGEfgAAAAxhE4AACAcQQOAABgHIEDAAAYx5e3lXMhz33p6hKuSgcmRLu6BADABZjhAAAAxhE4AACAcQQOAABgHIEDAAAYR+AAAADGETgAAIBxBA4AAGAcgQMAABhH4AAAAMYROAAAgHEEDgAAYByBAwAAGEfgAAAAxhE4AACAceUmcEyYMEE2m01Dhw51tJ07d06xsbGqUaOGqlatqu7duystLc3pfSkpKYqOjlaVKlVUu3ZtDR8+XOfPny/j6gEAwOWUi8CxYcMGvfXWW7rpppuc2ocNG6ZFixZp/vz5Wr16tQ4fPqxu3bo5+nNzcxUdHa3s7GytXbtW7733nmbPnq3ExMSyPgUAAHAZLg8cp0+fVt++fTVjxgxVq1bN0Z6RkaF33nlHEydOVLt27dS8eXPNmjVLa9eu1bp16yRJy5cv144dO/Thhx/qlltuUefOnfWvf/1LU6ZMUXZ2tqtOCQAAXMTlgSM2NlbR0dHq0KGDU/vGjRuVk5Pj1N6oUSPVr19fycnJkqTk5GQ1bdpUAQEBjjFRUVHKzMzU9u3by+YEAADA36royoPPmzdPmzZt0oYNGwr0paamytPTU/7+/k7tAQEBSk1NdYy5MGzk9+f3XUpWVpaysrIc25mZmSU9BQAAUAQum+E4dOiQhgwZojlz5sjb27tMjz1+/Hj5+fk5XkFBQWV6fAAArjUuCxwbN27U0aNHdeutt6pixYqqWLGiVq9ercmTJ6tixYoKCAhQdna20tPTnd6XlpamwMBASVJgYGCBu1byt/PHFCYhIUEZGRmO16FDh0r35AAAgBOXBY727dtr69at2rx5s+PVokUL9e3b1/HnSpUqKSkpyfGe3bt3KyUlRZGRkZKkyMhIbd26VUePHnWMWbFihex2u8LDwy95bC8vL9ntdqcXAAAwx2VrOHx9fdWkSROnNh8fH9WoUcPR/vjjjys+Pl7Vq1eX3W5XXFycIiMj1apVK0lSx44dFR4ern79+unll19WamqqRo4cqdjYWHl5eZX5OQEAgMK5dNHo35k0aZI8PDzUvXt3ZWVlKSoqSlOnTnX0V6hQQYsXL9bAgQMVGRkpHx8fxcTEaNy4cS6sGgAAXMxmWZbl6iJcLTMzU35+fsrIyCh3l1dCnvvS1SVclQ5MiHZ1CQBwTSjqz1CXP4cDAAC4PwIHAAAwjsABAACMI3AAAADjCBwAAMA4AgcAADCOwAEAAIwjcAAAAOMIHAAAwDgCBwAAMI7AAQAAjCNwAAAA4wgcAADAOAIHAAAwjsABAACMI3AAAADjCBwAAMA4AgcAADCOwAEAAIwjcAAAAOMIHAAAwDgCBwAAMI7AAQAAjCNwAAAA4wgcAADAOAIHAAAwjsABAACMI3AAAADjCBwAAMA4AgcAADCOwAEAAIwjcAAAAOMIHAAAwDgCBwAAMI7AAQAAjCNwAAAA4wgcAADAOAIHAAAwjsABAACMI3AAAADjCBwAAMA4AgcAADCOwAEAAIwjcAAAAOMIHAAAwDgCBwAAMI7AAQAAjCNwAAAA4wgcAADAOAIHAAAwjsABAACMI3AAAADjCBwAAMA4AgcAADCOwAEAAIwjcAAAAOMIHAAAwDgCBwAAMM6lgWPatGm66aabZLfbZbfbFRkZqa+++srRf+7cOcXGxqpGjRqqWrWqunfvrrS0NKd9pKSkKDo6WlWqVFHt2rU1fPhwnT9/vqxPBQAAXIZLA8d1112nCRMmaOPGjfrxxx/Vrl073Xfffdq+fbskadiwYVq0aJHmz5+v1atX6/Dhw+rWrZvj/bm5uYqOjlZ2drbWrl2r9957T7Nnz1ZiYqKrTgkAABTCZlmW5eoiLlS9enW98sor6tGjh2rVqqW5c+eqR48ekqRdu3apcePGSk5OVqtWrfTVV1/p3nvv1eHDhxUQECBJmj59ukaMGKFjx47J09OzSMfMzMyUn5+fMjIyZLfbjZ1bSYQ896WrS7gqHZgQ7eoSAOCaUNSfoeVmDUdubq7mzZunM2fOKDIyUhs3blROTo46dOjgGNOoUSPVr19fycnJkqTk5GQ1bdrUETYkKSoqSpmZmY5ZksJkZWUpMzPT6QUAAMxxeeDYunWrqlatKi8vL/3zn//U559/rvDwcKWmpsrT01P+/v5O4wMCApSamipJSk1NdQob+f35fZcyfvx4+fn5OV5BQUGle1IAAMCJywPHjTfeqM2bN2v9+vUaOHCgYmJitGPHDqPHTEhIUEZGhuN16NAho8cDAOBaV9HVBXh6eur666+XJDVv3lwbNmzQ66+/rl69eik7O1vp6elOsxxpaWkKDAyUJAUGBuqHH35w2l/+XSz5Ywrj5eUlLy+vUj4TAABwKS6f4bhYXl6esrKy1Lx5c1WqVElJSUmOvt27dyslJUWRkZGSpMjISG3dulVHjx51jFmxYoXsdrvCw8PLvHYAAFA4l85wJCQkqHPnzqpfv75OnTqluXPn6ptvvtGyZcvk5+enxx9/XPHx8apevbrsdrvi4uIUGRmpVq1aSZI6duyo8PBw9evXTy+//LJSU1M1cuRIxcbGMoMBAEA54tLAcfToUT3yyCM6cuSI/Pz8dNNNN2nZsmW6++67JUmTJk2Sh4eHunfvrqysLEVFRWnq1KmO91eoUEGLFy/WwIEDFRkZKR8fH8XExGjcuHGuOiUAAFCIcvccDlfgORzuh+dwAEDZuOqewwEAANwXgQMAABhH4AAAAMYROAAAgHEEDgAAYByBAwAAGEfgAAAAxhE4AACAcQQOAABgHIEDAAAYR+AAAADGETgAAIBxBA4AAGAcgQMAABhH4AAAAMYROAAAgHEEDgAAYByBAwAAGEfgAAAAxhE4AACAcQQOAABgHIEDAAAYR+AAAADGETgAAIBxBA4AAGAcgQMAABhXosDRoEED/fHHHwXa09PT1aBBgysuCgAAuJcSBY4DBw4oNze3QHtWVpZ+//33Ky4KAAC4l4rFGbxw4ULHn5ctWyY/Pz/Hdm5urpKSkhQSElJqxQEAAPdQrMBx//33S5JsNptiYmKc+ipVqqSQkBC9+uqrpVYcAABwD8UKHHl5eZKk0NBQbdiwQTVr1jRSFAAAcC/FChz59u/fX9p1AAAAN1aiwCFJSUlJSkpK0tGjRx0zH/nefffdKy4MAAC4jxIFjrFjx2rcuHFq0aKF6tSpI5vNVtp1AQAAN1KiwDF9+nTNnj1b/fr1K+16AACAGyrRcziys7N1xx13lHYtAADATZUocPTv319z584t7VoAAICbKtEllXPnzuntt9/W119/rZtuukmVKlVy6p84cWKpFAcAANxDiQLHli1bdMstt0iStm3b5tTHAlIAAHCxEgWOVatWlXYdAADAjfH19AAAwLgSzXC0bdv2spdOVq5cWeKCAACA+ylR4Mhfv5EvJydHmzdv1rZt2wp8qRsAAECJAsekSZMKbR8zZoxOnz59RQUBAAD3U6prOB5++GG+RwUAABRQqoEjOTlZ3t7epblLAADgBkp0SaVbt25O25Zl6ciRI/rxxx81atSoUikMAAC4jxIFDj8/P6dtDw8P3XjjjRo3bpw6duxYKoUBAAD3UaLAMWvWrNKuAwAAuLESBY58Gzdu1M6dOyVJERERatasWakUBaDshTz3patLuCodmBDt6hKAq0KJAsfRo0fVu3dvffPNN/L395ckpaenq23btpo3b55q1apVmjUCAICrXInuUomLi9OpU6e0fft2nThxQidOnNC2bduUmZmpwYMHl3aNAADgKleiGY6lS5fq66+/VuPGjR1t4eHhmjJlCotGAQBAASWa4cjLy1OlSpUKtFeqVEl5eXlXXBQAAHAvJQoc7dq105AhQ3T48GFH2++//65hw4apffv2pVYcAABwDyUKHG+++aYyMzMVEhKihg0bqmHDhgoNDVVmZqbeeOON0q4RAABc5Uq0hiMoKEibNm3S119/rV27dkmSGjdurA4dOpRqcQAAwD0Ua4Zj5cqVCg8PV2Zmpmw2m+6++27FxcUpLi5Ot912myIiIvTtt98WeX/jx4/XbbfdJl9fX9WuXVv333+/du/e7TTm3Llzio2NVY0aNVS1alV1795daWlpTmNSUlIUHR2tKlWqqHbt2ho+fLjOnz9fnFMDAAAGFStwvPbaaxowYIDsdnuBPj8/Pz355JOaOHFikfe3evVqxcbGat26dVqxYoVycnLUsWNHnTlzxjFm2LBhWrRokebPn6/Vq1fr8OHDTt/lkpubq+joaGVnZ2vt2rV67733NHv2bCUmJhbn1AAAgEE2y7Ksog4ODg7W0qVLnW6HvdCuXbvUsWNHpaSklKiYY8eOqXbt2lq9erXuvPNOZWRkqFatWpo7d6569OjhOEbjxo2VnJysVq1a6auvvtK9996rw4cPKyAgQJI0ffp0jRgxQseOHZOnp+ffHjczM1N+fn7KyMgoNEy5Ek9/LBme/lh8fNZKhs8arnVF/RlarBmOtLS0Qm+HzVexYkUdO3asOLt0kpGRIUmqXr26pL8enZ6Tk+O0NqRRo0aqX7++kpOTJUnJyclq2rSpI2xIUlRUlDIzM7V9+/ZCj5OVlaXMzEynFwAAMKdYgaNevXratm3bJfu3bNmiOnXqlKiQvLw8DR06VK1bt1aTJk0kSampqfL09HQ8Pj1fQECAUlNTHWMuDBv5/fl9hRk/frz8/Pwcr6CgoBLVDAAAiqZYd6ncc889GjVqlDp16iRvb2+nvrNnz2r06NG69957S1RIbGystm3bpu+++65E7y+OhIQExcfHO7YzMzMJHQBQRrh8VzJX++W7YgWOkSNH6rPPPtMNN9ygQYMG6cYbb5T017qKKVOmKDc3V88//3yxixg0aJAWL16sNWvW6LrrrnO0BwYGKjs7W+np6U6zHGlpaQoMDHSM+eGHH5z2l38XS/6Yi3l5ecnLy6vYdQIAgJIp1iWVgIAArV27Vk2aNFFCQoIeeOABPfDAA/qf//kfNWnSRN99912ByxuXY1mWBg0apM8//1wrV65UaGioU3/z5s1VqVIlJSUlOdp2796tlJQURUZGSpIiIyO1detWHT161DFmxYoVstvtCg8PL87pAQAAQ4r94K/g4GAtWbJEJ0+e1N69e2VZlsLCwlStWrViHzw2NlZz587Vf/7zH/n6+jrWXPj5+aly5cry8/PT448/rvj4eFWvXl12u11xcXGKjIxUq1atJEkdO3ZUeHi4+vXrp5dfflmpqakaOXKkYmNjmcUAAKCcKNGTRiWpWrVquu22267o4NOmTZMk3XXXXU7ts2bN0qOPPipJmjRpkjw8PNS9e3dlZWUpKipKU6dOdYytUKGCFi9erIEDByoyMlI+Pj6KiYnRuHHjrqg2AABQekocOEpDUR4B4u3trSlTpmjKlCmXHJM/6wIAAMqnEn15GwAAQHEQOAAAgHEEDgAAYByBAwAAGEfgAAAAxhE4AACAcQQOAABgHIEDAAAYR+AAAADGETgAAIBxBA4AAGAcgQMAABhH4AAAAMYROAAAgHEEDgAAYByBAwAAGEfgAAAAxhE4AACAcQQOAABgHIEDAAAYR+AAAADGETgAAIBxBA4AAGAcgQMAABhH4AAAAMYROAAAgHEEDgAAYByBAwAAGEfgAAAAxhE4AACAcQQOAABgHIEDAAAYR+AAAADGETgAAIBxBA4AAGAcgQMAABhH4AAAAMYROAAAgHEEDgAAYByBAwAAGEfgAAAAxhE4AACAcQQOAABgHIEDAAAYR+AAAADGETgAAIBxBA4AAGAcgQMAABhH4AAAAMYROAAAgHEEDgAAYByBAwAAGEfgAAAAxhE4AACAcQQOAABgHIEDAAAYR+AAAADGuTRwrFmzRl26dFHdunVls9n0xRdfOPVblqXExETVqVNHlStXVocOHbRnzx6nMSdOnFDfvn1lt9vl7++vxx9/XKdPny7DswAAAH/HpYHjzJkzuvnmmzVlypRC+19++WVNnjxZ06dP1/r16+Xj46OoqCidO3fOMaZv377avn27VqxYocWLF2vNmjV64oknyuoUAABAEVR05cE7d+6szp07F9pnWZZee+01jRw5Uvfdd58k6f3331dAQIC++OIL9e7dWzt37tTSpUu1YcMGtWjRQpL0xhtv6J577tG///1v1a1bt8zOBQAAXFq5XcOxf/9+paamqkOHDo42Pz8/3X777UpOTpYkJScny9/f3xE2JKlDhw7y8PDQ+vXry7xmAABQOJfOcFxOamqqJCkgIMCpPSAgwNGXmpqq2rVrO/VXrFhR1atXd4wpTFZWlrKyshzbmZmZpVU2AAAoRLmd4TBp/Pjx8vPzc7yCgoJcXRIAAG6t3AaOwMBASVJaWppTe1pamqMvMDBQR48edeo/f/68Tpw44RhTmISEBGVkZDhehw4dKuXqAQDAhcpt4AgNDVVgYKCSkpIcbZmZmVq/fr0iIyMlSZGRkUpPT9fGjRsdY1auXKm8vDzdfvvtl9y3l5eX7Ha70wsAAJjj0jUcp0+f1t69ex3b+/fv1+bNm1W9enXVr19fQ4cO1QsvvKCwsDCFhoZq1KhRqlu3ru6//35JUuPGjdWpUycNGDBA06dPV05OjgYNGqTevXtzhwoAAOWISwPHjz/+qLZt2zq24+PjJUkxMTGaPXu2nn32WZ05c0ZPPPGE0tPT9Y9//ENLly6Vt7e34z1z5szRoEGD1L59e3l4eKh79+6aPHlymZ8LAAC4NJcGjrvuukuWZV2y32azady4cRo3btwlx1SvXl1z5841UR4AACgl5XYNBwAAcB8EDgAAYByBAwAAGEfgAAAAxhE4AACAcQQOAABgHIEDAAAYR+AAAADGETgAAIBxBA4AAGAcgQMAABhH4AAAAMYROAAAgHEEDgAAYByBAwAAGEfgAAAAxhE4AACAcQQOAABgHIEDAAAYR+AAAADGETgAAIBxBA4AAGAcgQMAABhH4AAAAMYROAAAgHEEDgAAYByBAwAAGEfgAAAAxhE4AACAcQQOAABgHIEDAAAYR+AAAADGETgAAIBxBA4AAGAcgQMAABhH4AAAAMYROAAAgHEEDgAAYByBAwAAGEfgAAAAxhE4AACAcQQOAABgHIEDAAAYR+AAAADGETgAAIBxBA4AAGAcgQMAABhH4AAAAMYROAAAgHEEDgAAYByBAwAAGEfgAAAAxhE4AACAcQQOAABgHIEDAAAYR+AAAADGETgAAIBxBA4AAGCc2wSOKVOmKCQkRN7e3rr99tv1ww8/uLokAADw/7lF4Pj4448VHx+v0aNHa9OmTbr55psVFRWlo0ePuro0AAAgNwkcEydO1IABA/TYY48pPDxc06dPV5UqVfTuu++6ujQAACCpoqsLuFLZ2dnauHGjEhISHG0eHh7q0KGDkpOTC31PVlaWsrKyHNsZGRmSpMzMTLPFlkBe1p+uLuGqVB7/W5Z3fNZKhs9a8fFZK5ny+lnLr8uyrMuOu+oDx/Hjx5Wbm6uAgACn9oCAAO3atavQ94wfP15jx44t0B4UFGSkRpQ9v9dcXQGuFXzWUFbK+2ft1KlT8vPzu2T/VR84SiIhIUHx8fGO7by8PJ04cUI1atSQzWZzYWVXj8zMTAUFBenQoUOy2+2uLgdujM8aygqftZKxLEunTp1S3bp1Lzvuqg8cNWvWVIUKFZSWlubUnpaWpsDAwELf4+XlJS8vL6c2f39/UyW6Nbvdzj9MlAk+aygrfNaK73IzG/mu+kWjnp6eat68uZKSkhxteXl5SkpKUmRkpAsrAwAA+a76GQ5Jio+PV0xMjFq0aKGWLVvqtdde05kzZ/TYY4+5ujQAACA3CRy9evXSsWPHlJiYqNTUVN1yyy1aunRpgYWkKD1eXl4aPXp0gUtTQGnjs4aywmfNLJv1d/exAAAAXKGrfg0HAAAo/wgcAADAOAIHAAAwjsABAACMI3AAAADjCBwokpycHFWsWFHbtm1zdSkAgKuQWzyHA+ZVqlRJ9evXV25urqtLwTUqPT2dryCAEXv27NGqVat09OhR5eXlOfUlJia6qCr3w3M4UGTvvPOOPvvsM33wwQeqXr26q8uBG3vppZcUEhKiXr16SZJ69uypBQsWKDAwUEuWLNHNN9/s4grhLmbMmKGBAweqZs2aCgwMdPoCT5vNpk2bNrmwOvdC4ECRNWvWTHv37lVOTo6Cg4Pl4+Pj1M8/TJSW0NBQzZkzR3fccYdWrFihnj176uOPP9Ynn3yilJQULV++3NUlwk0EBwfrqaee0ogRI1xditvjkgqK7P7773d1CbhGpKamKigoSJK0ePFi9ezZUx07dlRISIhuv/12F1cHd3Ly5Ek9+OCDri7jmkDgQJGNHj3a1SXgGlGtWjUdOnRIQUFBWrp0qV544QVJkmVZrCNCqXrwwQe1fPly/fOf/3R1KW6PwAGg3OnWrZv69OmjsLAw/fHHH+rcubMk6aefftL111/v4urgTq6//nqNGjVK69atU9OmTVWpUiWn/sGDB7uoMvfDGg4UWW5uriZNmuS4jp6dne3Uf+LECRdVBneTk5Oj119/XYcOHdKjjz6qZs2aSZImTZokX19f9e/f38UVwl2EhoZess9ms2nfvn1lWI17I3CgyBITEzVz5kw9/fTTGjlypJ5//nkdOHBAX3zxhRITE/lNAABwSQQOFFnDhg01efJkRUdHy9fXV5s3b3a0rVu3TnPnznV1iXAT77///mX7H3nkkTKqBEBpIXCgyHx8fLRz507Vr19fderU0Zdffqlbb71V+/btU7NmzZSRkeHqEuEmqlWr5rSdk5OjP//8U56enqpSpQqX71CqfvvtNy1cuLDQS8UTJ050UVXuh0WjKLLrrrtOR44cUf369dWwYUMtX75ct956qzZs2CAvLy9Xlwc3cvLkyQJte/bs0cCBAzV8+HAXVAR3lZSUpK5du6pBgwbatWuXmjRpogMHDsiyLN16662uLs+t8F0qKLIHHnhASUlJkqS4uDiNGjVKYWFheuSRR/Tf//3fLq4O7i4sLEwTJkzQkCFDXF0K3EhCQoKeeeYZbd26Vd7e3lqwYIEOHTqkNm3a8HyOUsYlFZTYunXrtHbtWoWFhalLly6uLgfXgM2bN+vOO+9UZmamq0uBm7hwPVq1atX03XffKSIiQj///LPuu+8+HThwwNUlug0uqaDIxo8fr4CAAMdsRqtWrdSqVSu9++67eumll3g0MErNwoULnbYty9KRI0f05ptvqnXr1i6qCu7Ix8fHsW6jTp06+vXXXxURESFJOn78uCtLczsEDhTZW2+9VeidKBEREerduzeBA6Xm4sfo22w21apVS+3atdOrr77qmqLgllq1aqXvvvtOjRs31j333KOnn35aW7du1WeffaZWrVq5ujy3QuBAkaWmpqpOnToF2mvVqqUjR464oCK4qwu/Ijz/zx4eLDlD6Zs4caJOnz4tSRo7dqxOnz6tjz/+WGFhYdyhUsr4F4wiCwoK0vfff1+g/fvvv1fdunVdUBHc2TvvvKMmTZqocuXKqly5spo0aaKZM2e6uiy4mf/93/913Gbt4+Oj6dOna8uWLVqwYIGCg4NdXJ17YYYDRTZgwAANHTpUOTk5ateunaS/bil79tln9fTTT7u4OriTxMRETZw4UXFxcYqMjJQkJScna9iwYUpJSdG4ceNcXCHcxbFjx9SpUyfVqlVLvXv31sMPP6ybb77Z1WW5Je5SQZFZlqXnnntOkydPdiyy8vb21ogRI5SYmOji6uBOatWqpcmTJ+uhhx5yav/oo48UFxfHYj6UqpMnT2r+/PmaO3euvv32WzVq1Eh9+/ZVnz59FBIS4ury3AaBA8V2+vRp7dy5U5UrV1ZYWBgP/UKp8/f314YNGxQWFubU/ssvv6hly5ZKT093TWFwe7/99ps++ugjvfvuu9qzZ4/Onz/v6pLcBms4UGxVq1bVbbfdpiZNmhA2YES/fv00bdq0Au1vv/22+vbt64KKcC3IycnRjz/+qPXr1+vAgQMKCAhwdUluhTUcAMqF+Ph4x59tNptmzpyp5cuXO25NXL9+vVJSUvjiNpS6VatWae7cuVqwYIHy8vLUrVs3LV682LFWDaWDSyoAyoW2bdsWaZzNZtPKlSsNV4NrRb169XTixAl16tRJffv2VZcuXZi5NYTAAQC4Zs2YMUMPPvig/P39XV2K2yNwAAAA41g0CgAAjCNwAAAA4wgcAADAOAIHgHLBZrPpiy++cHUZAAwhcAAoE6mpqYqLi1ODBg3k5eWloKAgdenSRUlJSa4uDUAZ4MFfAIw7cOCAWrduLX9/f73yyitq2rSpcnJytGzZMsXGxmrXrl2uLhGAYcxwADDuqaeeks1m0w8//KDu3bvrhhtuUEREhOLj47Vu3bpC3zNixAjdcMMNqlKliho0aKBRo0YpJyfH0f/zzz+rbdu28vX1ld1uV/PmzfXjjz9Kkg4ePKguXbqoWrVq8vHxUUREhJYsWVIm5wqgcMxwADDqxIkTWrp0qV588UX5+PgU6L/UA5d8fX01e/Zs1a1bV1u3btWAAQPk6+urZ599VpLUt29fNWvWTNOmTVOFChW0efNmVapUSZIUGxur7OxsrVmzRj4+PtqxY4eqVq1q7BwB/D0CBwCj9u7dK8uy1KhRo2K9b+TIkY4/h4SE6JlnntG8efMcgSMlJUXDhw937PfCb5ZNSUlR9+7d1bRpU0lSgwYNrvQ0AFwhLqkAMKqkDzP++OOP1bp1awUGBqpq1aoaOXKkUlJSHP3x8fHq37+/OnTooAkTJujXX3919A0ePFgvvPCCWrdurdGjR2vLli1XfB4ArgyBA4BRYWFhstlsxVoYmpycrL59++qee+7R4sWL9dNPP+n5559Xdna2Y8yYMWO0fft2RUdHa+XKlQoPD9fnn38uSerfv7/27dunfv36aevWrWrRooXeeOONUj83AEXHd6kAMK5z587aunWrdu/eXWAdR3p6uvz9/WWz2fT555/r/vvv16uvvqqpU6c6zVr0799fn376qdLT0ws9xkMPPaQzZ85o4cKFBfoSEhL05ZdfMtMBuBAzHACMmzJlinJzc9WyZUstWLBAe/bs0c6dOzV58mRFRkYWGB8WFqaUlBTNmzdPv/76qyZPnuyYvZCks2fPatCgQfrmm2908OBBff/999qwYYMaN24sSRo6dKiWLVum/fv3a9OmTVq1apWjD4BrsGgUgHENGjTQpk2b9OKLL+rpp5/WkSNHVKtWLTVv3lzTpk0rML5r164aNmyYBg0apKysLEVHR2vUqFEaM2aMJKlChQr6448/9MgjjygtLU01a9ZUt27dNHbsWElSbm6uYmNj9dtvv8lut6tTp06aNGlSWZ4ygItwSQUAABjHJRUAAGAcgQMAABhH4AAAAMYROAAAgHEEDgAAYByBAwAAGEfgAAAAxhE4AACAcQQOAABgHIEDAAAYR+AAAADGETgAAIBx/w/8wCR6e9IEWQ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30545"/>
            <a:ext cx="5768975" cy="383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312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1143000"/>
          </a:xfrm>
        </p:spPr>
        <p:txBody>
          <a:bodyPr/>
          <a:lstStyle/>
          <a:p>
            <a:r>
              <a:rPr lang="de-DE" dirty="0" smtClean="0"/>
              <a:t>Exploratory Data Analysis</a:t>
            </a:r>
            <a:endParaRPr lang="de-DE" dirty="0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76048"/>
            <a:ext cx="7344816" cy="3922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725145"/>
            <a:ext cx="7416824" cy="1958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318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Feature Correlation Heatmap</a:t>
            </a:r>
            <a:endParaRPr lang="de-DE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2776"/>
            <a:ext cx="6984776" cy="538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978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Highly Correlated Pairs</a:t>
            </a:r>
            <a:endParaRPr lang="de-DE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00808"/>
            <a:ext cx="4320480" cy="4420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700808"/>
            <a:ext cx="4118573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211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848" y="27597"/>
            <a:ext cx="8229600" cy="1143000"/>
          </a:xfrm>
        </p:spPr>
        <p:txBody>
          <a:bodyPr>
            <a:normAutofit/>
          </a:bodyPr>
          <a:lstStyle/>
          <a:p>
            <a:r>
              <a:rPr lang="de-DE" dirty="0" smtClean="0"/>
              <a:t>Mean Feature Value per Class</a:t>
            </a:r>
            <a:endParaRPr lang="de-DE" sz="3100" i="1" dirty="0"/>
          </a:p>
        </p:txBody>
      </p:sp>
      <p:sp>
        <p:nvSpPr>
          <p:cNvPr id="4" name="AutoShape 2" descr="data:image/png;base64,iVBORw0KGgoAAAANSUhEUgAAAjAAAAGdCAYAAAAMm0nCAAAAOnRFWHRTb2Z0d2FyZQBNYXRwbG90bGliIHZlcnNpb24zLjEwLjAsIGh0dHBzOi8vbWF0cGxvdGxpYi5vcmcvlHJYcgAAAAlwSFlzAAAPYQAAD2EBqD+naQAAJK9JREFUeJzt3Xlw1PX9x/FXzg0BNuFoElIO08EKkTsR2PH4cYSkNHVQaAenqExBHWiwhnREmKHIoQ3FAoJEUEFCRymHU1RASVaQUCRckYwIlmJLG6aQpIoQzs2SfH9/OPmWJRwbTNz9hOdjJqP7/X7y5bNvl/iczW4SYlmWJQAAAIOEBnoDAAAADUXAAAAA4xAwAADAOAQMAAAwDgEDAACMQ8AAAADjEDAAAMA4BAwAADBOeKA30FRqa2t14sQJtW7dWiEhIYHeDgAA8INlWTp79qwSExMVGnr951mabcCcOHFCnTp1CvQ2AADALTh+/Lg6dux43fPNNmBat24t6dsBOJ3ORruu1+tVYWGh0tPTFRER0WjXba6Yl/+Ylf+Ylf+Ylf+Ylf+aclZVVVXq1KmT/f/x62m2AVP3bSOn09noARMdHS2n08kD3A/My3/Myn/Myn/Myn/Myn/fx6xu9vIPXsQLAACMQ8AAAADjEDAAAMA4BAwAADAOAQMAAIxDwAAAAOMQMAAAwDgEDAAAMA4BAwAAjEPAAAAA4xAwAADAOAQMAAAwDgEDAACMQ8AAAADjhAd6A0Ag3DF1c6C3UI8jzNK8/oHeBQCYgWd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5zsFzNy5cxUSEqLs7Gz72KVLl5SVlaV27dqpVatWGjVqlCoqKnw+r6ysTJmZmYqOjlZcXJyeffZZXb582WfN9u3b1a9fPzkcDnXt2lX5+fnfZasAAKAZueWA2bdvn1577TX16tXL5/jkyZO1ceNGrV+/XkVFRTpx4oRGjhxpn6+pqVFmZqaqq6u1a9curVq1Svn5+ZoxY4a95tixY8rMzNTgwYNVWlqq7OxsPfHEEyooKLjV7QIAgGbklgLm3LlzGjNmjN544w21adPGPn7mzBmtWLFCCxYs0JAhQ5SSkqKVK1dq165d2r17tySpsLBQhw8f1ltvvaU+ffpo+PDhmjNnjvLy8lRdXS1JWrZsmZKSkjR//nx1795dkyZN0s9//nMtXLiwEe4yAAAwXfitfFJWVpYyMzOVlpamF154wT5eUlIir9ertLQ0+1i3bt3UuXNnFRcXa+DAgSouLlbPnj0VHx9vr8nIyNDEiRN16NAh9e3bV8XFxT7XqFtz5beqrubxeOTxeOzbVVVVkiSv1yuv13srd/Oa6q7VmNdszoJ1Xo4wK9BbqMcR+u2egm1WwShYH1fBiFn5j1n5ryln5e81Gxwwa9as0aeffqp9+/bVO1deXq7IyEjFxsb6HI+Pj1d5ebm95sp4qTtfd+5Ga6qqqnTx4kW1aNGi3p+dm5urWbNm1TteWFio6Oho/++gn9xud6NfszkLtnnN6x/oHVxfsM0qmDEr/zEr/zEr/zXFrC5cuODXugYFzPHjx/XMM8/I7XYrKirqljbWVKZNm6acnBz7dlVVlTp16qT09HQ5nc5G+3O8Xq/cbreGDRumiIiIRrtucxWs8+oxM/heT+UItTQntTboZhWMgvVxFYyYlf+Ylf+aclZ130G5mQYFTElJiSorK9WvXz/7WE1NjXbs2KElS5aooKBA1dXVOn36tM+zMBUVFUpISJAkJSQkaO/evT7XrXuX0pVrrn7nUkVFhZxO5zWffZEkh8Mhh8NR73hERESTPBCb6rrNVbDNy1MTEugtXFewzSqYMSv/MSv/MSv/NcWs/L1eg17EO3ToUB08eFClpaX2R2pqqsaMGWP/e0REhLZu3Wp/zpEjR1RWViaXyyVJcrlcOnjwoCorK+01brdbTqdTycnJ9porr1G3pu4aAADg9tagZ2Bat26tHj16+Bxr2bKl2rVrZx8fP368cnJy1LZtWzmdTj399NNyuVwaOHCgJCk9PV3Jycl67LHHNG/ePJWXl2v69OnKysqyn0GZMGGClixZoilTpmjcuHHatm2b1q1bp82bNzfGfQYAAIa7pXch3cjChQsVGhqqUaNGyePxKCMjQ6+++qp9PiwsTJs2bdLEiRPlcrnUsmVLjR07VrNnz7bXJCUlafPmzZo8ebIWLVqkjh07avny5crIyGjs7QIAAAN954DZvn27z+2oqCjl5eUpLy/vup/TpUsXffDBBze87qBBg3TgwIHvuj0AANAM8buQ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p0EBs3TpUvXq1UtOp1NOp1Mul0sffvihff7SpUvKyspSu3bt1KpVK40aNUoVFRU+1ygrK1NmZqaio6MVFxenZ599VpcvX/ZZs337dvXr108Oh0Ndu3ZVfn7+rd9DAADQ7DQoYDp27Ki5c+eqpKRE+/fv15AhQzRixAgdOnRIkjR58mRt3LhR69evV1FRkU6cOKGRI0fan19TU6PMzExVV1dr165dWrVqlfLz8zVjxgx7zbFjx5SZmanBgwertLRU2dnZeuKJJ1RQUNBIdxkAAJguvCGLH3zwQZ/bL774opYuXardu3erY8eOWrFihVavXq0hQ4ZIklauXKnu3btr9+7dGjhwoAoLC3X48GF99NFHio+PV58+fTRnzhw999xzmjlzpiIjI7Vs2TIlJSVp/vz5kqTu3btr586dWrhwoTIyMhrpbgMAAJM1KGCuVFNTo/Xr1+v8+fNyuVwqKSmR1+tVWlqavaZbt27q3LmziouLNXDgQBUXF6tnz56Kj4+312RkZGjixIk6dOiQ+vbtq+LiYp9r1K3Jzs6+4X48Ho88Ho99u6qqSpLk9Xrl9Xpv9W7WU3etxrxmcxas83KEWYHeQj2O0G/3FGyzCkbB+rgKRszKf8zKf005K3+v2eCAOXjwoFwuly5duqRWrVppw4YNSk5OVmlpqSIjIxUbG+uzPj4+XuXl5ZKk8vJyn3ipO1937kZrqqqqdPHiRbVo0eKa+8rNzdWsWbPqHS8sLFR0dHRD7+ZNud3uRr9mcxZs85rXP9A7uL5gm1UwY1b+Y1b+Y1b+a4pZXbhwwa91DQ6Yu+66S6WlpTpz5ozeeecdjR07VkVFRQ3eYGObNm2acnJy7NtVVVXq1KmT0tPT5XQ6G+3P8Xq9crvdGjZsmCIiIhrtus1VsM6rx8zge02VI9TSnNTaoJtVMArWx1UwYlb+Y1b+a8pZ1X0H5WYaHDCRkZHq2rWrJCklJUX79u3TokWLNHr0aFVXV+v06dM+z8JUVFQoISFBkpSQkKC9e/f6XK/uXUpXrrn6nUsVFRVyOp3XffZFkhwOhxwOR73jERERTfJAbKrrNlfBNi9PTUigt3BdwTarYMas/Mes/Mes/NcUs/L3et/558DU1tbK4/EoJSVFERER2rp1q33uyJEjKisrk8vlkiS5XC4dPHhQlZWV9hq32y2n06nk5GR7zZXXqFtTdw0AAIAGPQMzbdo0DR8+XJ07d9bZs2e1evVqbd++XQUFBYqJidH48eOVk5Ojtm3byul06umnn5bL5dLAgQMlSenp6UpOTtZjjz2mefPmqby8XNOnT1dWVpb97MmECRO0ZMkSTZkyRePGjdO2bdu0bt06bd68ufHvPQAAMFKDAqayslKPP/64Tp48qZiYGPXq1UsFBQUaNmyYJGnhwoUKDQ3VqFGj5PF4lJGRoVdffdX+/LCwMG3atEkTJ06Uy+VSy5YtNXbsWM2ePdtek5SUpM2bN2vy5MlatGiROnbsqOXLl/MWagAAYGtQwKxYseKG56OiopSXl6e8vLzrrunSpYs++OCDG15n0KBBOnDgQEO2BgAAbiP8LiQAAGAcAgYAABiHgAEAAMa55V8lAKBp9JhZEFQ/p+ZfczMDvQUAqIdn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nQQGTm5ure+65R61bt1ZcXJweeughHTlyxGfNpUuXlJWVpXbt2qlVq1YaNWqUKioqfNaUlZUpMzNT0dHRiouL07PPPqvLly/7rNm+fbv69esnh8Ohrl27Kj8//9buIQAAaHYaFDBFRUXKysrS7t275Xa75fV6lZ6ervPnz9trJk+erI0bN2r9+vUqKirSiRMnNHLkSPt8TU2NMjMzVV1drV27dmnVqlXKz8/XjBkz7DXHjh1TZmamBg8erNLSUmVnZ+uJJ55QQUFBI9xlAABguvCGLN6yZYvP7fz8fMXFxamkpEQPPPCAzpw5oxUrVmj16tUaMmSIJGnlypXq3r27du/erYEDB6qwsFCHDx/WRx99pPj4ePXp00dz5szRc889p5kzZyoyMlLLli1TUlKS5s+fL0nq3r27du7cqYULFyojI6OR7joAADBVgwLmamfOnJEktW3bVpJUUlIir9ertLQ0e023bt3UuXNnFRcXa+DAgSouLlbPnj0VHx9vr8nIyNDEiRN16NAh9e3bV8XFxT7XqFuTnZ193b14PB55PB77dlVVlSTJ6/XK6/V+l7vpo+5ajXnN5ixY5+UIswK9hXocoZbPP4NFsP23k4L3cRWMmJX/mJX/mnJW/l7zlgOmtrZW2dnZuvfee9WjRw9JUnl5uSIjIxUbG+uzNj4+XuXl5faaK+Ol7nzduRutqaqq0sWLF9WiRYt6+8nNzdWsWbPqHS8sLFR0dPSt3ckbcLvdjX7N5izY5jWvf6B3cH1zUmsDvQUfH3zwQaC3cF3B9rgKZszKf8zKf00xqwsXLvi17pYDJisrS59//rl27tx5q5doVNOmTVNOTo59u6qqSp06dVJ6erqcTmej/Tler1dut1vDhg1TREREo123uQrWefWYGXyvp3KEWpqTWqvf7Q+VpzYk0NuxfT4z+L5tG6yPq2DErPzHrPzXlLOq+w7KzdxSwEyaNEmbNm3Sjh071LFjR/t4QkKCqqurdfr0aZ9nYSoqKpSQkGCv2bt3r8/16t6ldOWaq9+5VFFRIafTec1nXyTJ4XDI4XDUOx4REdEkD8Smum5zFWzz8tQETyBczVMbElT7C6b/blcLtsdVMGNW/mNW/muKWfl7vQa9C8myLE2aNEkbNmzQtm3blJSU5HM+JSVFERER2rp1q33syJEjKisrk8vlkiS5XC4dPHhQlZWV9hq32y2n06nk5GR7zZXXqFtTdw0AAHB7a9AzMFlZWVq9erXee+89tW7d2n7NSkxMjFq0aKGYmBiNHz9eOTk5atu2rZxOp55++mm5XC4NHDhQkpSenq7k5GQ99thjmjdvnsrLyzV9+nRlZWXZz6BMmDBBS5Ys0ZQpUzRu3Dht27ZN69at0+bNmxv57gMAABM16BmYpUuX6syZMxo0aJA6dOhgf6xdu9Zes3DhQv3sZz/TqFGj9MADDyghIUF/+ctf7PNhYWHatGmTwsLC5HK59Oijj+rxxx/X7Nmz7TVJSUnavHmz3G63evfurfnz52v58uW8hRoAAEhq4DMwlnXzt3dGRUUpLy9PeXl5113TpUuXm76zYdCgQTpw4EBDtgcAAG4T/C4kAABgHAIGAAAYh4ABAADGIWAAAIBxCBgAAGAcAgYAABiHgAEAAMYhYAAAgHEIGAAAYBwCBgAAGIeAAQAAxiFgAACAcQgYAABgHAIGAAAYh4ABAADGCQ/0BnB76DGzQJ6akEBvAwDQTPAMDAAAMA4BAwAAjEPAAAAA4xAwAADAOAQMAAAwDgEDAACMQ8AAAADjEDAAAMA4BAwAADAOAQMAAIxDwAAAAOMQMAAAwDgEDAAAMA4BAwAAjEPAAAAA4xAwAADAOAQMAAAwDgEDAACMQ8AAAADjEDAAAMA4BAwAADAOAQMAAIxDwAAAAOMQMAAAwDgEDAAAMA4BAwAAjEPAAAAA4xAwAADAOAQMAAAwDgEDAACMQ8AAAADjEDAAAMA4BAwAADAOAQMAAIxDwAAAAOMQMAAAwDgEDAAAMA4BAwAAjEPAAAAA4xAwAADAOOGB3gCA4HbH1M2B3kI9jjBL8/oHehcAAolnYAAAgHEIGAAAYBwCBgAAGIeAAQAAxiFgAACAcQgYAABgnAYHzI4dO/Tggw8qMTFRISEhevfdd33OW5alGTNmqEOHDmrRooXS0tJ09OhRnzWnTp3SmDFj5HQ6FRsbq/Hjx+vcuXM+az777DPdf//9ioqKUqdOnTRv3ryG3zsAANAsNThgzp8/r969eysvL++a5+fNm6fFixdr2bJl2rNnj1q2bKmMjAxdunTJXjNmzBgdOnRIbrdbmzZt0o4dO/TUU0/Z56uqqpSenq4uXbqopKREL730kmbOnKnXX3/9Fu4iAABobhr8g+yGDx+u4cOHX/OcZVl6+eWXNX36dI0YMUKS9Kc//Unx8fF699139cgjj+iLL77Qli1btG/fPqWmpkqSXnnlFf30pz/VH//4RyUmJurtt99WdXW13nzzTUVGRuruu+9WaWmpFixY4BM6AADg9tSoP4n32LFjKi8vV1pamn0sJiZGAwYMUHFxsR555BEVFxcrNjbWjhdJSktLU2hoqPbs2aOHH35YxcXFeuCBBxQZGWmvycjI0B/+8Ad98803atOmTb0/2+PxyOPx2LerqqokSV6vV16vt9HuY921GvOazVndnByhVoB3EvzqZsSsbq5uRvw9vDm+ZvmPWfmvKWfl7zUbNWDKy8slSfHx8T7H4+Pj7XPl5eWKi4vz3UR4uNq2beuzJikpqd416s5dK2Byc3M1a9asescLCwsVHR19i/fo+txud6Nfszmbk1ob6C0Yg1n5j7+H/mNW/mNW/muKWV24cMGvdc3mdyFNmzZNOTk59u2qqip16tRJ6enpcjqdjfbneL1eud1uDRs2TBEREY123eaqbl6/2x8qT21IoLcT1Byhluak1jIrP9TNir+HN8fXLP8xK/815azqvoNyM40aMAkJCZKkiooKdejQwT5eUVGhPn362GsqKyt9Pu/y5cs6deqU/fkJCQmqqKjwWVN3u27N1RwOhxwOR73jERERTfJAbKrrNlee2hB5avifsj+Ylf/4e+g/ZuU/ZuW/ppiVv9dr1J8Dk5SUpISEBG3dutU+VlVVpT179sjlckmSXC6XTp8+rZKSEnvNtm3bVFtbqwEDBthrduzY4fN9MLfbrbvuuuua3z4CAAC3lwYHzLlz51RaWqrS0lJJ375wt7S0VGVlZQoJCVF2drZeeOEFvf/++zp48KAef/xxJSYm6qGHHpIkde/eXT/5yU/05JNPau/evfrkk080adIkPfLII0pMTJQk/fKXv1RkZKTGjx+vQ4cOae3atVq0aJHPt4gAAMDtq8HfQtq/f78GDx5s366LirFjxyo/P19TpkzR+fPn9dRTT+n06dO67777tGXLFkVFRdmf8/bbb2vSpEkaOnSoQkNDNWrUKC1evNg+HxMTo8LCQmVlZSklJUXt27fXjBkzeAs1AACQdAsBM2jQIFnW9d/mGRISotmzZ2v27NnXXdO2bVutXr36hn9Or1699Ne//rWh2wMAALcBfhcSAAAwDgEDAACMQ8AAAADjEDAAAMA4BAwAADAOAQMAAIxDwAAAAOMQMAAAwDgEDAAAMA4BAwAAjEPAAAAA4xAwAADAOAQMAAAwDgEDAACMQ8AAAADjEDAAAMA4BAwAADAOAQMAAIxDwAAAAOMQMAAAwDgEDAAAMA4BAwAAjEPAAAAA4xAwAADAOAQMAAAwDgEDAACMQ8AAAADjEDAAAMA4BAwAADAOAQMAAIxDwAAAAOMQMAAAwDgEDAAAMA4BAwAAjEPAAAAA4xAwAADAOAQMAAAwDgEDAACMQ8AAAADjEDAAAMA4BAwAADAOAQMAAIxDwAAAAOMQMAAAwDgEDAAAME54oDcAALeqx8wCeWpCAr0N27/mZgZ6C8Btg2dgAACAcQgYAABgHAIGAAAYh4ABAADGIWAAAIBxCBgAAGAcAgYAABiHgAEAAMYhYAAAgHEIGAAAYBwCBgAAGIeAAQAAxiFgAACAcQgYAABgnPBAbwAA0PR6zCyQpyYk0Nvw8a+5mYHeAgzGMzAAAMA4BAwAADBOUAdMXl6e7rjjDkVFRWnAgAHau3dvoLcEAACCQNC+Bmbt2rXKycnRsmXLNGDAAL388svKyMjQkSNHFBcXF+jtBaU7pm4O9BbqcYRZmtc/0LsAvh/8HQS+P0EbMAsWLNCTTz6pX/3qV5KkZcuWafPmzXrzzTc1derUAO8OANBc8YJnMwRlwFRXV6ukpETTpk2zj4WGhiotLU3FxcXX/ByPxyOPx2PfPnPmjCTp1KlT8nq9jbY3r9erCxcu6Ouvv1ZERESjXbcxhF8+H+gt1BNea+nChVqFe0NVUxtcXxCCDbPyH7PyXzDP6uuvvw70FnzUfX1nVjfXlP8vPHv2rCTJsqwbrgvKgPnqq69UU1Oj+Ph4n+Px8fH629/+ds3Pyc3N1axZs+odT0pKapI9wn+/DPQGDMKs/Mes/Bess2o/P9A7MMftOKuzZ88qJibmuueDMmBuxbRp05STk2Pfrq2t1alTp9SuXTuFhDReSVdVValTp046fvy4nE5no123uWJe/mNW/mNW/mNW/mNW/mvKWVmWpbNnzyoxMfGG64IyYNq3b6+wsDBVVFT4HK+oqFBCQsI1P8fhcMjhcPgci42Nbaotyul08gBvAOblP2blP2blP2blP2blv6aa1Y2eeakTlG+jjoyMVEpKirZu3Wofq62t1datW+VyuQK4MwAAEAyC8hkYScrJydHYsWOVmpqq/v376+WXX9b58+ftdyUBAIDbV9AGzOjRo/Xf//5XM2bMUHl5ufr06aMtW7bUe2Hv983hcOj555+v9+0qXBvz8h+z8h+z8h+z8h+z8l8wzCrEutn7lAAAAIJMUL4GBgAA4EYIGAAAYBwCBgAAGIeAAQAAxiFgGigvL0933HGHoqKiNGDAAO3duzfQWwq4HTt26MEHH1RiYqJCQkL07rvv+py3LEszZsxQhw4d1KJFC6Wlpeno0aOB2WyA5ebm6p577lHr1q0VFxenhx56SEeOHPFZc+nSJWVlZaldu3Zq1aqVRo0aVe+HOt4Oli5dql69etk/KMvlcunDDz+0zzOn65s7d65CQkKUnZ1tH2Ne35o5c6ZCQkJ8Prp162afZ06+/vOf/+jRRx9Vu3bt1KJFC/Xs2VP79++3zwfy6zsB0wBr165VTk6Onn/+eX366afq3bu3MjIyVFlZGeitBdT58+fVu3dv5eXlXfP8vHnztHjxYi1btkx79uxRy5YtlZGRoUuXLn3POw28oqIiZWVlaffu3XK73fJ6vUpPT9f58//7RZyTJ0/Wxo0btX79ehUVFenEiRMaOXJkAHcdGB07dtTcuXNVUlKi/fv3a8iQIRoxYoQOHTokiTldz759+/Taa6+pV69ePseZ1//cfffdOnnypP2xc+dO+xxz+p9vvvlG9957ryIiIvThhx/q8OHDmj9/vtq0aWOvCejXdwt+69+/v5WVlWXfrqmpsRITE63c3NwA7iq4SLI2bNhg366trbUSEhKsl156yT52+vRpy+FwWH/+858DsMPgUllZaUmyioqKLMv6djYRERHW+vXr7TVffPGFJckqLi4O1DaDRps2bazly5czp+s4e/asdeedd1put9v6v//7P+uZZ56xLIvH1ZWef/55q3fv3tc8x5x8Pffcc9Z999133fOB/vrOMzB+qq6uVklJidLS0uxjoaGhSktLU3FxcQB3FtyOHTum8vJyn7nFxMRowIABzE3SmTNnJElt27aVJJWUlMjr9frMq1u3burcufNtPa+amhqtWbNG58+fl8vlYk7XkZWVpczMTJ+5SDyurnb06FElJibqRz/6kcaMGaOysjJJzOlq77//vlJTU/WLX/xCcXFx6tu3r9544w37fKC/vhMwfvrqq69UU1NT7ycBx8fHq7y8PEC7Cn51s2Fu9dXW1io7O1v33nuvevToIenbeUVGRtb7RaS367wOHjyoVq1ayeFwaMKECdqwYYOSk5OZ0zWsWbNGn376qXJzc+udY17/M2DAAOXn52vLli1aunSpjh07pvvvv19nz55lTlf55z//qaVLl+rOO+9UQUGBJk6cqN/85jdatWqVpMB/fQ/aXyUANHdZWVn6/PPPfb7/Dl933XWXSktLdebMGb3zzjsaO3asioqKAr2toHP8+HE988wzcrvdioqKCvR2gtrw4cPtf+/Vq5cGDBigLl26aN26dWrRokUAdxZ8amtrlZqaqt///veSpL59++rzzz/XsmXLNHbs2ADvjmdg/Na+fXuFhYXVezV6RUWFEhISArSr4Fc3G+bma9KkSdq0aZM+/vhjdezY0T6ekJCg6upqnT592mf97TqvyMhIde3aVSkpKcrNzVXv3r21aNEi5nSVkpISVVZWql+/fgoPD1d4eLiKioq0ePFihYeHKz4+nnldR2xsrH784x/ryy+/5HF1lQ4dOig5OdnnWPfu3e1vuQX66zsB46fIyEilpKRo69at9rHa2lpt3bpVLpcrgDsLbklJSUpISPCZW1VVlfbs2XNbzs2yLE2aNEkbNmzQtm3blJSU5HM+JSVFERERPvM6cuSIysrKbst5Xa22tlYej4c5XWXo0KE6ePCgSktL7Y/U1FSNGTPG/nfmdW3nzp3TP/7xD3Xo0IHH1VXuvffeej/m4e9//7u6dOkiKQi+vjf5y4SbkTVr1lgOh8PKz8+3Dh8+bD311FNWbGysVV5eHuitBdTZs2etAwcOWAcOHLAkWQsWLLAOHDhg/fvf/7Ysy7Lmzp1rxcbGWu+995712WefWSNGjLCSkpKsixcvBnjn37+JEydaMTEx1vbt262TJ0/aHxcuXLDXTJgwwercubO1bds2a//+/ZbL5bJcLlcAdx0YU6dOtYqKiqxjx45Zn332mTV16lQrJCTEKiwstCyLOd3Mle9CsizmVee3v/2ttX37duvYsWPWJ598YqWlpVnt27e3KisrLctiTlfau3evFR4ebr344ovW0aNHrbffftuKjo623nrrLXtNIL++EzAN9Morr1idO3e2IiMjrf79+1u7d+8O9JYC7uOPP7Yk1fsYO3asZVnfvtXud7/7nRUfH285HA5r6NCh1pEjRwK76QC51pwkWStXrrTXXLx40fr1r39ttWnTxoqOjrYefvhh6+TJk4HbdICMGzfO6tKlixUZGWn94Ac/sIYOHWrHi2Uxp5u5OmCY17dGjx5tdejQwYqMjLR++MMfWqNHj7a+/PJL+zxz8rVx40arR48elsPhsLp162a9/vrrPucD+fU9xLIsq+mf5wEAAGg8vAYGAAAYh4ABAADGIWAAAIBxCBgAAGAcAgYAABiHgAEAAMYhYAAAgHEIGAAAYBwCBgAAGIeAAQAAxiFgAACAcQgYAABgnP8HDmrBF+M1n94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5" name="AutoShape 4" descr="data:image/png;base64,iVBORw0KGgoAAAANSUhEUgAAAjAAAAGdCAYAAAAMm0nCAAAAOnRFWHRTb2Z0d2FyZQBNYXRwbG90bGliIHZlcnNpb24zLjEwLjAsIGh0dHBzOi8vbWF0cGxvdGxpYi5vcmcvlHJYcgAAAAlwSFlzAAAPYQAAD2EBqD+naQAAJK9JREFUeJzt3Xlw1PX9x/FXzg0BNuFoElIO08EKkTsR2PH4cYSkNHVQaAenqExBHWiwhnREmKHIoQ3FAoJEUEFCRymHU1RASVaQUCRckYwIlmJLG6aQpIoQzs2SfH9/OPmWJRwbTNz9hOdjJqP7/X7y5bNvl/iczW4SYlmWJQAAAIOEBnoDAAAADUXAAAAA4xAwAADAOAQMAAAwDgEDAACMQ8AAAADjEDAAAMA4BAwAADBOeKA30FRqa2t14sQJtW7dWiEhIYHeDgAA8INlWTp79qwSExMVGnr951mabcCcOHFCnTp1CvQ2AADALTh+/Lg6dux43fPNNmBat24t6dsBOJ3ORruu1+tVYWGh0tPTFRER0WjXba6Yl/+Ylf+Ylf+Ylf+Ylf+aclZVVVXq1KmT/f/x62m2AVP3bSOn09noARMdHS2n08kD3A/My3/Myn/Myn/Myn/Myn/fx6xu9vIPXsQLAACMQ8AAAADjEDAAAMA4BAwAADAOAQMAAIxDwAAAAOMQMAAAwDgEDAAAMA4BAwAAjEPAAAAA4xAwAADAOAQMAAAwDgEDAACMQ8AAAADjhAd6A0Ag3DF1c6C3UI8jzNK8/oHeBQCYgWd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5zsFzNy5cxUSEqLs7Gz72KVLl5SVlaV27dqpVatWGjVqlCoqKnw+r6ysTJmZmYqOjlZcXJyeffZZXb582WfN9u3b1a9fPzkcDnXt2lX5+fnfZasAAKAZueWA2bdvn1577TX16tXL5/jkyZO1ceNGrV+/XkVFRTpx4oRGjhxpn6+pqVFmZqaqq6u1a9curVq1Svn5+ZoxY4a95tixY8rMzNTgwYNVWlqq7OxsPfHEEyooKLjV7QIAgGbklgLm3LlzGjNmjN544w21adPGPn7mzBmtWLFCCxYs0JAhQ5SSkqKVK1dq165d2r17tySpsLBQhw8f1ltvvaU+ffpo+PDhmjNnjvLy8lRdXS1JWrZsmZKSkjR//nx1795dkyZN0s9//nMtXLiwEe4yAAAwXfitfFJWVpYyMzOVlpamF154wT5eUlIir9ertLQ0+1i3bt3UuXNnFRcXa+DAgSouLlbPnj0VHx9vr8nIyNDEiRN16NAh9e3bV8XFxT7XqFtz5beqrubxeOTxeOzbVVVVkiSv1yuv13srd/Oa6q7VmNdszoJ1Xo4wK9BbqMcR+u2egm1WwShYH1fBiFn5j1n5ryln5e81Gxwwa9as0aeffqp9+/bVO1deXq7IyEjFxsb6HI+Pj1d5ebm95sp4qTtfd+5Ga6qqqnTx4kW1aNGi3p+dm5urWbNm1TteWFio6Oho/++gn9xud6NfszkLtnnN6x/oHVxfsM0qmDEr/zEr/zEr/zXFrC5cuODXugYFzPHjx/XMM8/I7XYrKirqljbWVKZNm6acnBz7dlVVlTp16qT09HQ5nc5G+3O8Xq/cbreGDRumiIiIRrtucxWs8+oxM/heT+UItTQntTboZhWMgvVxFYyYlf+Ylf+aclZ130G5mQYFTElJiSorK9WvXz/7WE1NjXbs2KElS5aooKBA1dXVOn36tM+zMBUVFUpISJAkJSQkaO/evT7XrXuX0pVrrn7nUkVFhZxO5zWffZEkh8Mhh8NR73hERESTPBCb6rrNVbDNy1MTEugtXFewzSqYMSv/MSv/MSv/NcWs/L1eg17EO3ToUB08eFClpaX2R2pqqsaMGWP/e0REhLZu3Wp/zpEjR1RWViaXyyVJcrlcOnjwoCorK+01brdbTqdTycnJ9porr1G3pu4aAADg9tagZ2Bat26tHj16+Bxr2bKl2rVrZx8fP368cnJy1LZtWzmdTj399NNyuVwaOHCgJCk9PV3Jycl67LHHNG/ePJWXl2v69OnKysqyn0GZMGGClixZoilTpmjcuHHatm2b1q1bp82bNzfGfQYAAIa7pXch3cjChQsVGhqqUaNGyePxKCMjQ6+++qp9PiwsTJs2bdLEiRPlcrnUsmVLjR07VrNnz7bXJCUlafPmzZo8ebIWLVqkjh07avny5crIyGjs7QIAAAN954DZvn27z+2oqCjl5eUpLy/vup/TpUsXffDBBze87qBBg3TgwIHvuj0AANAM8buQ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p0EBs3TpUvXq1UtOp1NOp1Mul0sffvihff7SpUvKyspSu3bt1KpVK40aNUoVFRU+1ygrK1NmZqaio6MVFxenZ599VpcvX/ZZs337dvXr108Oh0Ndu3ZVfn7+rd9DAADQ7DQoYDp27Ki5c+eqpKRE+/fv15AhQzRixAgdOnRIkjR58mRt3LhR69evV1FRkU6cOKGRI0fan19TU6PMzExVV1dr165dWrVqlfLz8zVjxgx7zbFjx5SZmanBgwertLRU2dnZeuKJJ1RQUNBIdxkAAJguvCGLH3zwQZ/bL774opYuXardu3erY8eOWrFihVavXq0hQ4ZIklauXKnu3btr9+7dGjhwoAoLC3X48GF99NFHio+PV58+fTRnzhw999xzmjlzpiIjI7Vs2TIlJSVp/vz5kqTu3btr586dWrhwoTIyMhrpbgMAAJM1KGCuVFNTo/Xr1+v8+fNyuVwqKSmR1+tVWlqavaZbt27q3LmziouLNXDgQBUXF6tnz56Kj4+312RkZGjixIk6dOiQ+vbtq+LiYp9r1K3Jzs6+4X48Ho88Ho99u6qqSpLk9Xrl9Xpv9W7WU3etxrxmcxas83KEWYHeQj2O0G/3FGyzCkbB+rgKRszKf8zKf005K3+v2eCAOXjwoFwuly5duqRWrVppw4YNSk5OVmlpqSIjIxUbG+uzPj4+XuXl5ZKk8vJyn3ipO1937kZrqqqqdPHiRbVo0eKa+8rNzdWsWbPqHS8sLFR0dHRD7+ZNud3uRr9mcxZs85rXP9A7uL5gm1UwY1b+Y1b+Y1b+a4pZXbhwwa91DQ6Yu+66S6WlpTpz5ozeeecdjR07VkVFRQ3eYGObNm2acnJy7NtVVVXq1KmT0tPT5XQ6G+3P8Xq9crvdGjZsmCIiIhrtus1VsM6rx8zge02VI9TSnNTaoJtVMArWx1UwYlb+Y1b+a8pZ1X0H5WYaHDCRkZHq2rWrJCklJUX79u3TokWLNHr0aFVXV+v06dM+z8JUVFQoISFBkpSQkKC9e/f6XK/uXUpXrrn6nUsVFRVyOp3XffZFkhwOhxwOR73jERERTfJAbKrrNlfBNi9PTUigt3BdwTarYMas/Mes/Mes/NcUs/L3et/558DU1tbK4/EoJSVFERER2rp1q33uyJEjKisrk8vlkiS5XC4dPHhQlZWV9hq32y2n06nk5GR7zZXXqFtTdw0AAIAGPQMzbdo0DR8+XJ07d9bZs2e1evVqbd++XQUFBYqJidH48eOVk5Ojtm3byul06umnn5bL5dLAgQMlSenp6UpOTtZjjz2mefPmqby8XNOnT1dWVpb97MmECRO0ZMkSTZkyRePGjdO2bdu0bt06bd68ufHvPQAAMFKDAqayslKPP/64Tp48qZiYGPXq1UsFBQUaNmyYJGnhwoUKDQ3VqFGj5PF4lJGRoVdffdX+/LCwMG3atEkTJ06Uy+VSy5YtNXbsWM2ePdtek5SUpM2bN2vy5MlatGiROnbsqOXLl/MWagAAYGtQwKxYseKG56OiopSXl6e8vLzrrunSpYs++OCDG15n0KBBOnDgQEO2BgAAbiP8LiQAAGAcAgYAABiHgAEAAMa55V8lAKBp9JhZEFQ/p+ZfczMDvQUAqIdn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nQQGTm5ure+65R61bt1ZcXJweeughHTlyxGfNpUuXlJWVpXbt2qlVq1YaNWqUKioqfNaUlZUpMzNT0dHRiouL07PPPqvLly/7rNm+fbv69esnh8Ohrl27Kj8//9buIQAAaHYaFDBFRUXKysrS7t275Xa75fV6lZ6ervPnz9trJk+erI0bN2r9+vUqKirSiRMnNHLkSPt8TU2NMjMzVV1drV27dmnVqlXKz8/XjBkz7DXHjh1TZmamBg8erNLSUmVnZ+uJJ55QQUFBI9xlAABguvCGLN6yZYvP7fz8fMXFxamkpEQPPPCAzpw5oxUrVmj16tUaMmSIJGnlypXq3r27du/erYEDB6qwsFCHDx/WRx99pPj4ePXp00dz5szRc889p5kzZyoyMlLLli1TUlKS5s+fL0nq3r27du7cqYULFyojI6OR7joAADBVgwLmamfOnJEktW3bVpJUUlIir9ertLQ0e023bt3UuXNnFRcXa+DAgSouLlbPnj0VHx9vr8nIyNDEiRN16NAh9e3bV8XFxT7XqFuTnZ193b14PB55PB77dlVVlSTJ6/XK6/V+l7vpo+5ajXnN5ixY5+UIswK9hXocoZbPP4NFsP23k4L3cRWMmJX/mJX/mnJW/l7zlgOmtrZW2dnZuvfee9WjRw9JUnl5uSIjIxUbG+uzNj4+XuXl5faaK+Ol7nzduRutqaqq0sWLF9WiRYt6+8nNzdWsWbPqHS8sLFR0dPSt3ckbcLvdjX7N5izY5jWvf6B3cH1zUmsDvQUfH3zwQaC3cF3B9rgKZszKf8zKf00xqwsXLvi17pYDJisrS59//rl27tx5q5doVNOmTVNOTo59u6qqSp06dVJ6erqcTmej/Tler1dut1vDhg1TREREo123uQrWefWYGXyvp3KEWpqTWqvf7Q+VpzYk0NuxfT4z+L5tG6yPq2DErPzHrPzXlLOq+w7KzdxSwEyaNEmbNm3Sjh071LFjR/t4QkKCqqurdfr0aZ9nYSoqKpSQkGCv2bt3r8/16t6ldOWaq9+5VFFRIafTec1nXyTJ4XDI4XDUOx4REdEkD8Smum5zFWzz8tQETyBczVMbElT7C6b/blcLtsdVMGNW/mNW/muKWfl7vQa9C8myLE2aNEkbNmzQtm3blJSU5HM+JSVFERER2rp1q33syJEjKisrk8vlkiS5XC4dPHhQlZWV9hq32y2n06nk5GR7zZXXqFtTdw0AAHB7a9AzMFlZWVq9erXee+89tW7d2n7NSkxMjFq0aKGYmBiNHz9eOTk5atu2rZxOp55++mm5XC4NHDhQkpSenq7k5GQ99thjmjdvnsrLyzV9+nRlZWXZz6BMmDBBS5Ys0ZQpUzRu3Dht27ZN69at0+bNmxv57gMAABM16BmYpUuX6syZMxo0aJA6dOhgf6xdu9Zes3DhQv3sZz/TqFGj9MADDyghIUF/+ctf7PNhYWHatGmTwsLC5HK59Oijj+rxxx/X7Nmz7TVJSUnavHmz3G63evfurfnz52v58uW8hRoAAEhq4DMwlnXzt3dGRUUpLy9PeXl5113TpUuXm76zYdCgQTpw4EBDtgcAAG4T/C4kAABgHAIGAAAYh4ABAADGIWAAAIBxCBgAAGAcAgYAABiHgAEAAMYhYAAAgHEIGAAAYBwCBgAAGIeAAQAAxiFgAACAcQgYAABgHAIGAAAYh4ABAADGCQ/0BnB76DGzQJ6akEBvAwDQTPAMDAAAMA4BAwAAjEPAAAAA4xAwAADAOAQMAAAwDgEDAACMQ8AAAADjEDAAAMA4BAwAADAOAQMAAIxDwAAAAOMQMAAAwDgEDAAAMA4BAwAAjEPAAAAA4xAwAADAOAQMAAAwDgEDAACMQ8AAAADjEDAAAMA4BAwAADAOAQMAAIxDwAAAAOMQMAAAwDgEDAAAMA4BAwAAjEPAAAAA4xAwAADAOAQMAAAwDgEDAACMQ8AAAADjEDAAAMA4BAwAADAOAQMAAIxDwAAAAOMQMAAAwDgEDAAAMA4BAwAAjEPAAAAA4xAwAADAOOGB3gCA4HbH1M2B3kI9jjBL8/oHehcAAolnYAAAgHEIGAAAYBwCBgAAGIeAAQAAxiFgAACAcQgYAABgnAYHzI4dO/Tggw8qMTFRISEhevfdd33OW5alGTNmqEOHDmrRooXS0tJ09OhRnzWnTp3SmDFj5HQ6FRsbq/Hjx+vcuXM+az777DPdf//9ioqKUqdOnTRv3ryG3zsAANAsNThgzp8/r969eysvL++a5+fNm6fFixdr2bJl2rNnj1q2bKmMjAxdunTJXjNmzBgdOnRIbrdbmzZt0o4dO/TUU0/Z56uqqpSenq4uXbqopKREL730kmbOnKnXX3/9Fu4iAABobhr8g+yGDx+u4cOHX/OcZVl6+eWXNX36dI0YMUKS9Kc//Unx8fF699139cgjj+iLL77Qli1btG/fPqWmpkqSXnnlFf30pz/VH//4RyUmJurtt99WdXW13nzzTUVGRuruu+9WaWmpFixY4BM6AADg9tSoP4n32LFjKi8vV1pamn0sJiZGAwYMUHFxsR555BEVFxcrNjbWjhdJSktLU2hoqPbs2aOHH35YxcXFeuCBBxQZGWmvycjI0B/+8Ad98803atOmTb0/2+PxyOPx2LerqqokSV6vV16vt9HuY921GvOazVndnByhVoB3EvzqZsSsbq5uRvw9vDm+ZvmPWfmvKWfl7zUbNWDKy8slSfHx8T7H4+Pj7XPl5eWKi4vz3UR4uNq2beuzJikpqd416s5dK2Byc3M1a9asescLCwsVHR19i/fo+txud6Nfszmbk1ob6C0Yg1n5j7+H/mNW/mNW/muKWV24cMGvdc3mdyFNmzZNOTk59u2qqip16tRJ6enpcjqdjfbneL1eud1uDRs2TBEREY123eaqbl6/2x8qT21IoLcT1Byhluak1jIrP9TNir+HN8fXLP8xK/815azqvoNyM40aMAkJCZKkiooKdejQwT5eUVGhPn362GsqKyt9Pu/y5cs6deqU/fkJCQmqqKjwWVN3u27N1RwOhxwOR73jERERTfJAbKrrNlee2hB5avifsj+Ylf/4e+g/ZuU/ZuW/ppiVv9dr1J8Dk5SUpISEBG3dutU+VlVVpT179sjlckmSXC6XTp8+rZKSEnvNtm3bVFtbqwEDBthrduzY4fN9MLfbrbvuuuua3z4CAAC3lwYHzLlz51RaWqrS0lJJ375wt7S0VGVlZQoJCVF2drZeeOEFvf/++zp48KAef/xxJSYm6qGHHpIkde/eXT/5yU/05JNPau/evfrkk080adIkPfLII0pMTJQk/fKXv1RkZKTGjx+vQ4cOae3atVq0aJHPt4gAAMDtq8HfQtq/f78GDx5s366LirFjxyo/P19TpkzR+fPn9dRTT+n06dO67777tGXLFkVFRdmf8/bbb2vSpEkaOnSoQkNDNWrUKC1evNg+HxMTo8LCQmVlZSklJUXt27fXjBkzeAs1AACQdAsBM2jQIFnW9d/mGRISotmzZ2v27NnXXdO2bVutXr36hn9Or1699Ne//rWh2wMAALcBfhcSAAAwDgEDAACMQ8AAAADjEDAAAMA4BAwAADAOAQMAAIxDwAAAAOMQMAAAwDgEDAAAMA4BAwAAjEPAAAAA4xAwAADAOAQMAAAwDgEDAACMQ8AAAADjEDAAAMA4BAwAADAOAQMAAIxDwAAAAOMQMAAAwDgEDAAAMA4BAwAAjEPAAAAA4xAwAADAOAQMAAAwDgEDAACMQ8AAAADjEDAAAMA4BAwAADAOAQMAAIxDwAAAAOMQMAAAwDgEDAAAMA4BAwAAjEPAAAAA4xAwAADAOAQMAAAwDgEDAACMQ8AAAADjEDAAAMA4BAwAADAOAQMAAIxDwAAAAOMQMAAAwDgEDAAAME54oDcAALeqx8wCeWpCAr0N27/mZgZ6C8Btg2dgAACAcQgYAABgHAIGAAAYh4ABAADGIWAAAIBxCBgAAGAcAgYAABiHgAEAAMYhYAAAgHEIGAAAYBwCBgAAGIeAAQAAxiFgAACAcQgYAABgnPBAbwAA0PR6zCyQpyYk0Nvw8a+5mYHeAgzGMzAAAMA4BAwAADBOUAdMXl6e7rjjDkVFRWnAgAHau3dvoLcEAACCQNC+Bmbt2rXKycnRsmXLNGDAAL388svKyMjQkSNHFBcXF+jtBaU7pm4O9BbqcYRZmtc/0LsAvh/8HQS+P0EbMAsWLNCTTz6pX/3qV5KkZcuWafPmzXrzzTc1derUAO8OANBc8YJnMwRlwFRXV6ukpETTpk2zj4WGhiotLU3FxcXX/ByPxyOPx2PfPnPmjCTp1KlT8nq9jbY3r9erCxcu6Ouvv1ZERESjXbcxhF8+H+gt1BNea+nChVqFe0NVUxtcXxCCDbPyH7PyXzDP6uuvvw70FnzUfX1nVjfXlP8vPHv2rCTJsqwbrgvKgPnqq69UU1Oj+Ph4n+Px8fH629/+ds3Pyc3N1axZs+odT0pKapI9wn+/DPQGDMKs/Mes/Bess2o/P9A7MMftOKuzZ88qJibmuueDMmBuxbRp05STk2Pfrq2t1alTp9SuXTuFhDReSVdVValTp046fvy4nE5no123uWJe/mNW/mNW/mNW/mNW/mvKWVmWpbNnzyoxMfGG64IyYNq3b6+wsDBVVFT4HK+oqFBCQsI1P8fhcMjhcPgci42Nbaotyul08gBvAOblP2blP2blP2blP2blv6aa1Y2eeakTlG+jjoyMVEpKirZu3Wofq62t1datW+VyuQK4MwAAEAyC8hkYScrJydHYsWOVmpqq/v376+WXX9b58+ftdyUBAIDbV9AGzOjRo/Xf//5XM2bMUHl5ufr06aMtW7bUe2Hv983hcOj555+v9+0qXBvz8h+z8h+z8h+z8h+z8l8wzCrEutn7lAAAAIJMUL4GBgAA4EYIGAAAYBwCBgAAGIeAAQAAxiFgGigvL0933HGHoqKiNGDAAO3duzfQWwq4HTt26MEHH1RiYqJCQkL07rvv+py3LEszZsxQhw4d1KJFC6Wlpeno0aOB2WyA5ebm6p577lHr1q0VFxenhx56SEeOHPFZc+nSJWVlZaldu3Zq1aqVRo0aVe+HOt4Oli5dql69etk/KMvlcunDDz+0zzOn65s7d65CQkKUnZ1tH2Ne35o5c6ZCQkJ8Prp162afZ06+/vOf/+jRRx9Vu3bt1KJFC/Xs2VP79++3zwfy6zsB0wBr165VTk6Onn/+eX366afq3bu3MjIyVFlZGeitBdT58+fVu3dv5eXlXfP8vHnztHjxYi1btkx79uxRy5YtlZGRoUuXLn3POw28oqIiZWVlaffu3XK73fJ6vUpPT9f58//7RZyTJ0/Wxo0btX79ehUVFenEiRMaOXJkAHcdGB07dtTcuXNVUlKi/fv3a8iQIRoxYoQOHTokiTldz759+/Taa6+pV69ePseZ1//cfffdOnnypP2xc+dO+xxz+p9vvvlG9957ryIiIvThhx/q8OHDmj9/vtq0aWOvCejXdwt+69+/v5WVlWXfrqmpsRITE63c3NwA7iq4SLI2bNhg366trbUSEhKsl156yT52+vRpy+FwWH/+858DsMPgUllZaUmyioqKLMv6djYRERHW+vXr7TVffPGFJckqLi4O1DaDRps2bazly5czp+s4e/asdeedd1put9v6v//7P+uZZ56xLIvH1ZWef/55q3fv3tc8x5x8Pffcc9Z999133fOB/vrOMzB+qq6uVklJidLS0uxjoaGhSktLU3FxcQB3FtyOHTum8vJyn7nFxMRowIABzE3SmTNnJElt27aVJJWUlMjr9frMq1u3burcufNtPa+amhqtWbNG58+fl8vlYk7XkZWVpczMTJ+5SDyurnb06FElJibqRz/6kcaMGaOysjJJzOlq77//vlJTU/WLX/xCcXFx6tu3r9544w37fKC/vhMwfvrqq69UU1NT7ycBx8fHq7y8PEC7Cn51s2Fu9dXW1io7O1v33nuvevToIenbeUVGRtb7RaS367wOHjyoVq1ayeFwaMKECdqwYYOSk5OZ0zWsWbNGn376qXJzc+udY17/M2DAAOXn52vLli1aunSpjh07pvvvv19nz55lTlf55z//qaVLl+rOO+9UQUGBJk6cqN/85jdatWqVpMB/fQ/aXyUANHdZWVn6/PPPfb7/Dl933XWXSktLdebMGb3zzjsaO3asioqKAr2toHP8+HE988wzcrvdioqKCvR2gtrw4cPtf+/Vq5cGDBigLl26aN26dWrRokUAdxZ8amtrlZqaqt///veSpL59++rzzz/XsmXLNHbs2ADvjmdg/Na+fXuFhYXVezV6RUWFEhISArSr4Fc3G+bma9KkSdq0aZM+/vhjdezY0T6ekJCg6upqnT592mf97TqvyMhIde3aVSkpKcrNzVXv3r21aNEi5nSVkpISVVZWql+/fgoPD1d4eLiKioq0ePFihYeHKz4+nnldR2xsrH784x/ryy+/5HF1lQ4dOig5OdnnWPfu3e1vuQX66zsB46fIyEilpKRo69at9rHa2lpt3bpVLpcrgDsLbklJSUpISPCZW1VVlfbs2XNbzs2yLE2aNEkbNmzQtm3blJSU5HM+JSVFERERPvM6cuSIysrKbst5Xa22tlYej4c5XWXo0KE6ePCgSktL7Y/U1FSNGTPG/nfmdW3nzp3TP/7xD3Xo0IHH1VXuvffeej/m4e9//7u6dOkiKQi+vjf5y4SbkTVr1lgOh8PKz8+3Dh8+bD311FNWbGysVV5eHuitBdTZs2etAwcOWAcOHLAkWQsWLLAOHDhg/fvf/7Ysy7Lmzp1rxcbGWu+995712WefWSNGjLCSkpKsixcvBnjn37+JEydaMTEx1vbt262TJ0/aHxcuXLDXTJgwwercubO1bds2a//+/ZbL5bJcLlcAdx0YU6dOtYqKiqxjx45Zn332mTV16lQrJCTEKiwstCyLOd3Mle9CsizmVee3v/2ttX37duvYsWPWJ598YqWlpVnt27e3KisrLctiTlfau3evFR4ebr344ovW0aNHrbffftuKjo623nrrLXtNIL++EzAN9Morr1idO3e2IiMjrf79+1u7d+8O9JYC7uOPP7Yk1fsYO3asZVnfvtXud7/7nRUfH285HA5r6NCh1pEjRwK76QC51pwkWStXrrTXXLx40fr1r39ttWnTxoqOjrYefvhh6+TJk4HbdICMGzfO6tKlixUZGWn94Ac/sIYOHWrHi2Uxp5u5OmCY17dGjx5tdejQwYqMjLR++MMfWqNHj7a+/PJL+zxz8rVx40arR48elsPhsLp162a9/vrrPucD+fU9xLIsq+mf5wEAAGg8vAYGAAAYh4ABAADGIWAAAIBxCBgAAGAcAgYAABiHgAEAAMYhYAAAgHEIGAAAYBwCBgAAGIeAAQAAxiFgAACAcQgYAABgnP8HDmrBF+M1n94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AutoShape 6" descr="data:image/png;base64,iVBORw0KGgoAAAANSUhEUgAAAjAAAAGdCAYAAAAMm0nCAAAAOnRFWHRTb2Z0d2FyZQBNYXRwbG90bGliIHZlcnNpb24zLjEwLjAsIGh0dHBzOi8vbWF0cGxvdGxpYi5vcmcvlHJYcgAAAAlwSFlzAAAPYQAAD2EBqD+naQAAJK9JREFUeJzt3Xlw1PX9x/FXzg0BNuFoElIO08EKkTsR2PH4cYSkNHVQaAenqExBHWiwhnREmKHIoQ3FAoJEUEFCRymHU1RASVaQUCRckYwIlmJLG6aQpIoQzs2SfH9/OPmWJRwbTNz9hOdjJqP7/X7y5bNvl/iczW4SYlmWJQAAAIOEBnoDAAAADUXAAAAA4xAwAADAOAQMAAAwDgEDAACMQ8AAAADjEDAAAMA4BAwAADBOeKA30FRqa2t14sQJtW7dWiEhIYHeDgAA8INlWTp79qwSExMVGnr951mabcCcOHFCnTp1CvQ2AADALTh+/Lg6dux43fPNNmBat24t6dsBOJ3ORruu1+tVYWGh0tPTFRER0WjXba6Yl/+Ylf+Ylf+Ylf+Ylf+aclZVVVXq1KmT/f/x62m2AVP3bSOn09noARMdHS2n08kD3A/My3/Myn/Myn/Myn/Myn/fx6xu9vIPXsQLAACMQ8AAAADjEDAAAMA4BAwAADAOAQMAAIxDwAAAAOMQMAAAwDgEDAAAMA4BAwAAjEPAAAAA4xAwAADAOAQMAAAwDgEDAACMQ8AAAADjhAd6A0Ag3DF1c6C3UI8jzNK8/oHeBQCYgWd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5zsFzNy5cxUSEqLs7Gz72KVLl5SVlaV27dqpVatWGjVqlCoqKnw+r6ysTJmZmYqOjlZcXJyeffZZXb582WfN9u3b1a9fPzkcDnXt2lX5+fnfZasAAKAZueWA2bdvn1577TX16tXL5/jkyZO1ceNGrV+/XkVFRTpx4oRGjhxpn6+pqVFmZqaqq6u1a9curVq1Svn5+ZoxY4a95tixY8rMzNTgwYNVWlqq7OxsPfHEEyooKLjV7QIAgGbklgLm3LlzGjNmjN544w21adPGPn7mzBmtWLFCCxYs0JAhQ5SSkqKVK1dq165d2r17tySpsLBQhw8f1ltvvaU+ffpo+PDhmjNnjvLy8lRdXS1JWrZsmZKSkjR//nx1795dkyZN0s9//nMtXLiwEe4yAAAwXfitfFJWVpYyMzOVlpamF154wT5eUlIir9ertLQ0+1i3bt3UuXNnFRcXa+DAgSouLlbPnj0VHx9vr8nIyNDEiRN16NAh9e3bV8XFxT7XqFtz5beqrubxeOTxeOzbVVVVkiSv1yuv13srd/Oa6q7VmNdszoJ1Xo4wK9BbqMcR+u2egm1WwShYH1fBiFn5j1n5ryln5e81Gxwwa9as0aeffqp9+/bVO1deXq7IyEjFxsb6HI+Pj1d5ebm95sp4qTtfd+5Ga6qqqnTx4kW1aNGi3p+dm5urWbNm1TteWFio6Oho/++gn9xud6NfszkLtnnN6x/oHVxfsM0qmDEr/zEr/zEr/zXFrC5cuODXugYFzPHjx/XMM8/I7XYrKirqljbWVKZNm6acnBz7dlVVlTp16qT09HQ5nc5G+3O8Xq/cbreGDRumiIiIRrtucxWs8+oxM/heT+UItTQntTboZhWMgvVxFYyYlf+Ylf+aclZ130G5mQYFTElJiSorK9WvXz/7WE1NjXbs2KElS5aooKBA1dXVOn36tM+zMBUVFUpISJAkJSQkaO/evT7XrXuX0pVrrn7nUkVFhZxO5zWffZEkh8Mhh8NR73hERESTPBCb6rrNVbDNy1MTEugtXFewzSqYMSv/MSv/MSv/NcWs/L1eg17EO3ToUB08eFClpaX2R2pqqsaMGWP/e0REhLZu3Wp/zpEjR1RWViaXyyVJcrlcOnjwoCorK+01brdbTqdTycnJ9porr1G3pu4aAADg9tagZ2Bat26tHj16+Bxr2bKl2rVrZx8fP368cnJy1LZtWzmdTj399NNyuVwaOHCgJCk9PV3Jycl67LHHNG/ePJWXl2v69OnKysqyn0GZMGGClixZoilTpmjcuHHatm2b1q1bp82bNzfGfQYAAIa7pXch3cjChQsVGhqqUaNGyePxKCMjQ6+++qp9PiwsTJs2bdLEiRPlcrnUsmVLjR07VrNnz7bXJCUlafPmzZo8ebIWLVqkjh07avny5crIyGjs7QIAAAN954DZvn27z+2oqCjl5eUpLy/vup/TpUsXffDBBze87qBBg3TgwIHvuj0AANAM8buQ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p0EBs3TpUvXq1UtOp1NOp1Mul0sffvihff7SpUvKyspSu3bt1KpVK40aNUoVFRU+1ygrK1NmZqaio6MVFxenZ599VpcvX/ZZs337dvXr108Oh0Ndu3ZVfn7+rd9DAADQ7DQoYDp27Ki5c+eqpKRE+/fv15AhQzRixAgdOnRIkjR58mRt3LhR69evV1FRkU6cOKGRI0fan19TU6PMzExVV1dr165dWrVqlfLz8zVjxgx7zbFjx5SZmanBgwertLRU2dnZeuKJJ1RQUNBIdxkAAJguvCGLH3zwQZ/bL774opYuXardu3erY8eOWrFihVavXq0hQ4ZIklauXKnu3btr9+7dGjhwoAoLC3X48GF99NFHio+PV58+fTRnzhw999xzmjlzpiIjI7Vs2TIlJSVp/vz5kqTu3btr586dWrhwoTIyMhrpbgMAAJM1KGCuVFNTo/Xr1+v8+fNyuVwqKSmR1+tVWlqavaZbt27q3LmziouLNXDgQBUXF6tnz56Kj4+312RkZGjixIk6dOiQ+vbtq+LiYp9r1K3Jzs6+4X48Ho88Ho99u6qqSpLk9Xrl9Xpv9W7WU3etxrxmcxas83KEWYHeQj2O0G/3FGyzCkbB+rgKRszKf8zKf005K3+v2eCAOXjwoFwuly5duqRWrVppw4YNSk5OVmlpqSIjIxUbG+uzPj4+XuXl5ZKk8vJyn3ipO1937kZrqqqqdPHiRbVo0eKa+8rNzdWsWbPqHS8sLFR0dHRD7+ZNud3uRr9mcxZs85rXP9A7uL5gm1UwY1b+Y1b+Y1b+a4pZXbhwwa91DQ6Yu+66S6WlpTpz5ozeeecdjR07VkVFRQ3eYGObNm2acnJy7NtVVVXq1KmT0tPT5XQ6G+3P8Xq9crvdGjZsmCIiIhrtus1VsM6rx8zge02VI9TSnNTaoJtVMArWx1UwYlb+Y1b+a8pZ1X0H5WYaHDCRkZHq2rWrJCklJUX79u3TokWLNHr0aFVXV+v06dM+z8JUVFQoISFBkpSQkKC9e/f6XK/uXUpXrrn6nUsVFRVyOp3XffZFkhwOhxwOR73jERERTfJAbKrrNlfBNi9PTUigt3BdwTarYMas/Mes/Mes/NcUs/L3et/558DU1tbK4/EoJSVFERER2rp1q33uyJEjKisrk8vlkiS5XC4dPHhQlZWV9hq32y2n06nk5GR7zZXXqFtTdw0AAIAGPQMzbdo0DR8+XJ07d9bZs2e1evVqbd++XQUFBYqJidH48eOVk5Ojtm3byul06umnn5bL5dLAgQMlSenp6UpOTtZjjz2mefPmqby8XNOnT1dWVpb97MmECRO0ZMkSTZkyRePGjdO2bdu0bt06bd68ufHvPQAAMFKDAqayslKPP/64Tp48qZiYGPXq1UsFBQUaNmyYJGnhwoUKDQ3VqFGj5PF4lJGRoVdffdX+/LCwMG3atEkTJ06Uy+VSy5YtNXbsWM2ePdtek5SUpM2bN2vy5MlatGiROnbsqOXLl/MWagAAYGtQwKxYseKG56OiopSXl6e8vLzrrunSpYs++OCDG15n0KBBOnDgQEO2BgAAbiP8LiQAAGAcAgYAABiHgAEAAMa55V8lAKBp9JhZEFQ/p+ZfczMDvQUAqIdn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HgAEAAMYhYAAAgHEIGAAAYBwCBgAAGIeAAQAAxiFgAACAcQgYAABgHAIGAAAYh4ABAADGIWAAAIBxCBgAAGAcAgYAABinQQGTm5ure+65R61bt1ZcXJweeughHTlyxGfNpUuXlJWVpXbt2qlVq1YaNWqUKioqfNaUlZUpMzNT0dHRiouL07PPPqvLly/7rNm+fbv69esnh8Ohrl27Kj8//9buIQAAaHYaFDBFRUXKysrS7t275Xa75fV6lZ6ervPnz9trJk+erI0bN2r9+vUqKirSiRMnNHLkSPt8TU2NMjMzVV1drV27dmnVqlXKz8/XjBkz7DXHjh1TZmamBg8erNLSUmVnZ+uJJ55QQUFBI9xlAABguvCGLN6yZYvP7fz8fMXFxamkpEQPPPCAzpw5oxUrVmj16tUaMmSIJGnlypXq3r27du/erYEDB6qwsFCHDx/WRx99pPj4ePXp00dz5szRc889p5kzZyoyMlLLli1TUlKS5s+fL0nq3r27du7cqYULFyojI6OR7joAADBVgwLmamfOnJEktW3bVpJUUlIir9ertLQ0e023bt3UuXNnFRcXa+DAgSouLlbPnj0VHx9vr8nIyNDEiRN16NAh9e3bV8XFxT7XqFuTnZ193b14PB55PB77dlVVlSTJ6/XK6/V+l7vpo+5ajXnN5ixY5+UIswK9hXocoZbPP4NFsP23k4L3cRWMmJX/mJX/mnJW/l7zlgOmtrZW2dnZuvfee9WjRw9JUnl5uSIjIxUbG+uzNj4+XuXl5faaK+Ol7nzduRutqaqq0sWLF9WiRYt6+8nNzdWsWbPqHS8sLFR0dPSt3ckbcLvdjX7N5izY5jWvf6B3cH1zUmsDvQUfH3zwQaC3cF3B9rgKZszKf8zKf00xqwsXLvi17pYDJisrS59//rl27tx5q5doVNOmTVNOTo59u6qqSp06dVJ6erqcTmej/Tler1dut1vDhg1TREREo123uQrWefWYGXyvp3KEWpqTWqvf7Q+VpzYk0NuxfT4z+L5tG6yPq2DErPzHrPzXlLOq+w7KzdxSwEyaNEmbNm3Sjh071LFjR/t4QkKCqqurdfr0aZ9nYSoqKpSQkGCv2bt3r8/16t6ldOWaq9+5VFFRIafTec1nXyTJ4XDI4XDUOx4REdEkD8Smum5zFWzz8tQETyBczVMbElT7C6b/blcLtsdVMGNW/mNW/muKWfl7vQa9C8myLE2aNEkbNmzQtm3blJSU5HM+JSVFERER2rp1q33syJEjKisrk8vlkiS5XC4dPHhQlZWV9hq32y2n06nk5GR7zZXXqFtTdw0AAHB7a9AzMFlZWVq9erXee+89tW7d2n7NSkxMjFq0aKGYmBiNHz9eOTk5atu2rZxOp55++mm5XC4NHDhQkpSenq7k5GQ99thjmjdvnsrLyzV9+nRlZWXZz6BMmDBBS5Ys0ZQpUzRu3Dht27ZN69at0+bNmxv57gMAABM16BmYpUuX6syZMxo0aJA6dOhgf6xdu9Zes3DhQv3sZz/TqFGj9MADDyghIUF/+ctf7PNhYWHatGmTwsLC5HK59Oijj+rxxx/X7Nmz7TVJSUnavHmz3G63evfurfnz52v58uW8hRoAAEhq4DMwlnXzt3dGRUUpLy9PeXl5113TpUuXm76zYdCgQTpw4EBDtgcAAG4T/C4kAABgHAIGAAAYh4ABAADGIWAAAIBxCBgAAGAcAgYAABiHgAEAAMYhYAAAgHEIGAAAYBwCBgAAGIeAAQAAxiFgAACAcQgYAABgHAIGAAAYh4ABAADGCQ/0BnB76DGzQJ6akEBvAwDQTPAMDAAAMA4BAwAAjEPAAAAA4xAwAADAOAQMAAAwDgEDAACMQ8AAAADjEDAAAMA4BAwAADAOAQMAAIxDwAAAAOMQMAAAwDgEDAAAMA4BAwAAjEPAAAAA4xAwAADAOAQMAAAwDgEDAACMQ8AAAADjEDAAAMA4BAwAADAOAQMAAIxDwAAAAOMQMAAAwDgEDAAAMA4BAwAAjEPAAAAA4xAwAADAOAQMAAAwDgEDAACMQ8AAAADjEDAAAMA4BAwAADAOAQMAAIxDwAAAAOMQMAAAwDgEDAAAMA4BAwAAjEPAAAAA4xAwAADAOOGB3gCA4HbH1M2B3kI9jjBL8/oHehcAAolnYAAAgHEIGAAAYBwCBgAAGIeAAQAAxiFgAACAcQgYAABgnAYHzI4dO/Tggw8qMTFRISEhevfdd33OW5alGTNmqEOHDmrRooXS0tJ09OhRnzWnTp3SmDFj5HQ6FRsbq/Hjx+vcuXM+az777DPdf//9ioqKUqdOnTRv3ryG3zsAANAsNThgzp8/r969eysvL++a5+fNm6fFixdr2bJl2rNnj1q2bKmMjAxdunTJXjNmzBgdOnRIbrdbmzZt0o4dO/TUU0/Z56uqqpSenq4uXbqopKREL730kmbOnKnXX3/9Fu4iAABobhr8g+yGDx+u4cOHX/OcZVl6+eWXNX36dI0YMUKS9Kc//Unx8fF699139cgjj+iLL77Qli1btG/fPqWmpkqSXnnlFf30pz/VH//4RyUmJurtt99WdXW13nzzTUVGRuruu+9WaWmpFixY4BM6AADg9tSoP4n32LFjKi8vV1pamn0sJiZGAwYMUHFxsR555BEVFxcrNjbWjhdJSktLU2hoqPbs2aOHH35YxcXFeuCBBxQZGWmvycjI0B/+8Ad98803atOmTb0/2+PxyOPx2LerqqokSV6vV16vt9HuY921GvOazVndnByhVoB3EvzqZsSsbq5uRvw9vDm+ZvmPWfmvKWfl7zUbNWDKy8slSfHx8T7H4+Pj7XPl5eWKi4vz3UR4uNq2beuzJikpqd416s5dK2Byc3M1a9asescLCwsVHR19i/fo+txud6Nfszmbk1ob6C0Yg1n5j7+H/mNW/mNW/muKWV24cMGvdc3mdyFNmzZNOTk59u2qqip16tRJ6enpcjqdjfbneL1eud1uDRs2TBEREY123eaqbl6/2x8qT21IoLcT1Byhluak1jIrP9TNir+HN8fXLP8xK/815azqvoNyM40aMAkJCZKkiooKdejQwT5eUVGhPn362GsqKyt9Pu/y5cs6deqU/fkJCQmqqKjwWVN3u27N1RwOhxwOR73jERERTfJAbKrrNlee2hB5avifsj+Ylf/4e+g/ZuU/ZuW/ppiVv9dr1J8Dk5SUpISEBG3dutU+VlVVpT179sjlckmSXC6XTp8+rZKSEnvNtm3bVFtbqwEDBthrduzY4fN9MLfbrbvuuuua3z4CAAC3lwYHzLlz51RaWqrS0lJJ375wt7S0VGVlZQoJCVF2drZeeOEFvf/++zp48KAef/xxJSYm6qGHHpIkde/eXT/5yU/05JNPau/evfrkk080adIkPfLII0pMTJQk/fKXv1RkZKTGjx+vQ4cOae3atVq0aJHPt4gAAMDtq8HfQtq/f78GDx5s366LirFjxyo/P19TpkzR+fPn9dRTT+n06dO67777tGXLFkVFRdmf8/bbb2vSpEkaOnSoQkNDNWrUKC1evNg+HxMTo8LCQmVlZSklJUXt27fXjBkzeAs1AACQdAsBM2jQIFnW9d/mGRISotmzZ2v27NnXXdO2bVutXr36hn9Or1699Ne//rWh2wMAALcBfhcSAAAwDgEDAACMQ8AAAADjEDAAAMA4BAwAADAOAQMAAIxDwAAAAOMQMAAAwDgEDAAAMA4BAwAAjEPAAAAA4xAwAADAOAQMAAAwDgEDAACMQ8AAAADjEDAAAMA4BAwAADAOAQMAAIxDwAAAAOMQMAAAwDgEDAAAMA4BAwAAjEPAAAAA4xAwAADAOAQMAAAwDgEDAACMQ8AAAADjEDAAAMA4BAwAADAOAQMAAIxDwAAAAOMQMAAAwDgEDAAAMA4BAwAAjEPAAAAA4xAwAADAOAQMAAAwDgEDAACMQ8AAAADjEDAAAMA4BAwAADAOAQMAAIxDwAAAAOMQMAAAwDgEDAAAME54oDcAALeqx8wCeWpCAr0N27/mZgZ6C8Btg2dgAACAcQgYAABgHAIGAAAYh4ABAADGIWAAAIBxCBgAAGAcAgYAABiHgAEAAMYhYAAAgHEIGAAAYBwCBgAAGIeAAQAAxiFgAACAcQgYAABgnPBAbwAA0PR6zCyQpyYk0Nvw8a+5mYHeAgzGMzAAAMA4BAwAADBOUAdMXl6e7rjjDkVFRWnAgAHau3dvoLcEAACCQNC+Bmbt2rXKycnRsmXLNGDAAL388svKyMjQkSNHFBcXF+jtBaU7pm4O9BbqcYRZmtc/0LsAvh/8HQS+P0EbMAsWLNCTTz6pX/3qV5KkZcuWafPmzXrzzTc1derUAO8OANBc8YJnMwRlwFRXV6ukpETTpk2zj4WGhiotLU3FxcXX/ByPxyOPx2PfPnPmjCTp1KlT8nq9jbY3r9erCxcu6Ouvv1ZERESjXbcxhF8+H+gt1BNea+nChVqFe0NVUxtcXxCCDbPyH7PyXzDP6uuvvw70FnzUfX1nVjfXlP8vPHv2rCTJsqwbrgvKgPnqq69UU1Oj+Ph4n+Px8fH629/+ds3Pyc3N1axZs+odT0pKapI9wn+/DPQGDMKs/Mes/Bess2o/P9A7MMftOKuzZ88qJibmuueDMmBuxbRp05STk2Pfrq2t1alTp9SuXTuFhDReSVdVValTp046fvy4nE5no123uWJe/mNW/mNW/mNW/mNW/mvKWVmWpbNnzyoxMfGG64IyYNq3b6+wsDBVVFT4HK+oqFBCQsI1P8fhcMjhcPgci42Nbaotyul08gBvAOblP2blP2blP2blP2blv6aa1Y2eeakTlG+jjoyMVEpKirZu3Wofq62t1datW+VyuQK4MwAAEAyC8hkYScrJydHYsWOVmpqq/v376+WXX9b58+ftdyUBAIDbV9AGzOjRo/Xf//5XM2bMUHl5ufr06aMtW7bUe2Hv983hcOj555+v9+0qXBvz8h+z8h+z8h+z8h+z8l8wzCrEutn7lAAAAIJMUL4GBgAA4EYIGAAAYBwCBgAAGIeAAQAAxiFgGigvL0933HGHoqKiNGDAAO3duzfQWwq4HTt26MEHH1RiYqJCQkL07rvv+py3LEszZsxQhw4d1KJFC6Wlpeno0aOB2WyA5ebm6p577lHr1q0VFxenhx56SEeOHPFZc+nSJWVlZaldu3Zq1aqVRo0aVe+HOt4Oli5dql69etk/KMvlcunDDz+0zzOn65s7d65CQkKUnZ1tH2Ne35o5c6ZCQkJ8Prp162afZ06+/vOf/+jRRx9Vu3bt1KJFC/Xs2VP79++3zwfy6zsB0wBr165VTk6Onn/+eX366afq3bu3MjIyVFlZGeitBdT58+fVu3dv5eXlXfP8vHnztHjxYi1btkx79uxRy5YtlZGRoUuXLn3POw28oqIiZWVlaffu3XK73fJ6vUpPT9f58//7RZyTJ0/Wxo0btX79ehUVFenEiRMaOXJkAHcdGB07dtTcuXNVUlKi/fv3a8iQIRoxYoQOHTokiTldz759+/Taa6+pV69ePseZ1//cfffdOnnypP2xc+dO+xxz+p9vvvlG9957ryIiIvThhx/q8OHDmj9/vtq0aWOvCejXdwt+69+/v5WVlWXfrqmpsRITE63c3NwA7iq4SLI2bNhg366trbUSEhKsl156yT52+vRpy+FwWH/+858DsMPgUllZaUmyioqKLMv6djYRERHW+vXr7TVffPGFJckqLi4O1DaDRps2bazly5czp+s4e/asdeedd1put9v6v//7P+uZZ56xLIvH1ZWef/55q3fv3tc8x5x8Pffcc9Z999133fOB/vrOMzB+qq6uVklJidLS0uxjoaGhSktLU3FxcQB3FtyOHTum8vJyn7nFxMRowIABzE3SmTNnJElt27aVJJWUlMjr9frMq1u3burcufNtPa+amhqtWbNG58+fl8vlYk7XkZWVpczMTJ+5SDyurnb06FElJibqRz/6kcaMGaOysjJJzOlq77//vlJTU/WLX/xCcXFx6tu3r9544w37fKC/vhMwfvrqq69UU1NT7ycBx8fHq7y8PEC7Cn51s2Fu9dXW1io7O1v33nuvevToIenbeUVGRtb7RaS367wOHjyoVq1ayeFwaMKECdqwYYOSk5OZ0zWsWbNGn376qXJzc+udY17/M2DAAOXn52vLli1aunSpjh07pvvvv19nz55lTlf55z//qaVLl+rOO+9UQUGBJk6cqN/85jdatWqVpMB/fQ/aXyUANHdZWVn6/PPPfb7/Dl933XWXSktLdebMGb3zzjsaO3asioqKAr2toHP8+HE988wzcrvdioqKCvR2gtrw4cPtf+/Vq5cGDBigLl26aN26dWrRokUAdxZ8amtrlZqaqt///veSpL59++rzzz/XsmXLNHbs2ADvjmdg/Na+fXuFhYXVezV6RUWFEhISArSr4Fc3G+bma9KkSdq0aZM+/vhjdezY0T6ekJCg6upqnT592mf97TqvyMhIde3aVSkpKcrNzVXv3r21aNEi5nSVkpISVVZWql+/fgoPD1d4eLiKioq0ePFihYeHKz4+nnldR2xsrH784x/ryy+/5HF1lQ4dOig5OdnnWPfu3e1vuQX66zsB46fIyEilpKRo69at9rHa2lpt3bpVLpcrgDsLbklJSUpISPCZW1VVlfbs2XNbzs2yLE2aNEkbNmzQtm3blJSU5HM+JSVFERERPvM6cuSIysrKbst5Xa22tlYej4c5XWXo0KE6ePCgSktL7Y/U1FSNGTPG/nfmdW3nzp3TP/7xD3Xo0IHH1VXuvffeej/m4e9//7u6dOkiKQi+vjf5y4SbkTVr1lgOh8PKz8+3Dh8+bD311FNWbGysVV5eHuitBdTZs2etAwcOWAcOHLAkWQsWLLAOHDhg/fvf/7Ysy7Lmzp1rxcbGWu+995712WefWSNGjLCSkpKsixcvBnjn37+JEydaMTEx1vbt262TJ0/aHxcuXLDXTJgwwercubO1bds2a//+/ZbL5bJcLlcAdx0YU6dOtYqKiqxjx45Zn332mTV16lQrJCTEKiwstCyLOd3Mle9CsizmVee3v/2ttX37duvYsWPWJ598YqWlpVnt27e3KisrLctiTlfau3evFR4ebr344ovW0aNHrbffftuKjo623nrrLXtNIL++EzAN9Morr1idO3e2IiMjrf79+1u7d+8O9JYC7uOPP7Yk1fsYO3asZVnfvtXud7/7nRUfH285HA5r6NCh1pEjRwK76QC51pwkWStXrrTXXLx40fr1r39ttWnTxoqOjrYefvhh6+TJk4HbdICMGzfO6tKlixUZGWn94Ac/sIYOHWrHi2Uxp5u5OmCY17dGjx5tdejQwYqMjLR++MMfWqNHj7a+/PJL+zxz8rVx40arR48elsPhsLp162a9/vrrPucD+fU9xLIsq+mf5wEAAGg8vAYGAAAYh4ABAADGIWAAAIBxCBgAAGAcAgYAABiHgAEAAMYhYAAAgHEIGAAAYBwCBgAAGIeAAQAAxiFgAACAcQgYAABgnP8HDmrBF+M1n94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29" y="836712"/>
            <a:ext cx="8237537" cy="484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7975" y="5805264"/>
            <a:ext cx="8296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    Cars </a:t>
            </a:r>
            <a:r>
              <a:rPr lang="en-US" dirty="0"/>
              <a:t>tend to have the highest average values across several features</a:t>
            </a:r>
            <a:r>
              <a:rPr lang="en-US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Vans </a:t>
            </a:r>
            <a:r>
              <a:rPr lang="en-US" dirty="0"/>
              <a:t>generally have lower values</a:t>
            </a:r>
            <a:r>
              <a:rPr lang="en-US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Buses </a:t>
            </a:r>
            <a:r>
              <a:rPr lang="en-US" dirty="0"/>
              <a:t>lie between cars and vans for </a:t>
            </a:r>
            <a:r>
              <a:rPr lang="en-US" dirty="0" smtClean="0"/>
              <a:t>many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67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Overfit/Underfit Results</a:t>
            </a:r>
            <a:endParaRPr lang="de-DE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7" y="1196752"/>
            <a:ext cx="7836023" cy="1855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2198" y="3052713"/>
            <a:ext cx="75904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Logistic Regression</a:t>
            </a:r>
            <a:r>
              <a:rPr lang="en-US" b="1" i="1" dirty="0" smtClean="0"/>
              <a:t>: </a:t>
            </a:r>
            <a:endParaRPr lang="en-US" b="1" i="1" dirty="0"/>
          </a:p>
          <a:p>
            <a:r>
              <a:rPr lang="en-US" dirty="0" smtClean="0"/>
              <a:t>very </a:t>
            </a:r>
            <a:r>
              <a:rPr lang="en-US" dirty="0"/>
              <a:t>small difference between train and test, no overfitting - the dataset contains learnable patterns, linear relationships already explain a large part of the classification problem</a:t>
            </a:r>
          </a:p>
          <a:p>
            <a:r>
              <a:rPr lang="en-US" b="1" i="1" dirty="0" smtClean="0"/>
              <a:t>Random Forest</a:t>
            </a:r>
          </a:p>
          <a:p>
            <a:r>
              <a:rPr lang="en-US" dirty="0" smtClean="0"/>
              <a:t>perfect </a:t>
            </a:r>
            <a:r>
              <a:rPr lang="en-US" dirty="0"/>
              <a:t>training performance but test performance is also extremely high - the model learned the training data extremely well, but still generalizes well. There may be: slight overfitting. Random Forest appears to be a very strong model for </a:t>
            </a:r>
            <a:r>
              <a:rPr lang="en-US" dirty="0" smtClean="0"/>
              <a:t>this </a:t>
            </a:r>
            <a:r>
              <a:rPr lang="en-US" dirty="0"/>
              <a:t>dataset.</a:t>
            </a:r>
          </a:p>
          <a:p>
            <a:r>
              <a:rPr lang="en-US" b="1" i="1" dirty="0" smtClean="0"/>
              <a:t>SVM </a:t>
            </a:r>
            <a:r>
              <a:rPr lang="en-US" b="1" i="1" dirty="0"/>
              <a:t>(Support Vector Machine)</a:t>
            </a:r>
          </a:p>
          <a:p>
            <a:r>
              <a:rPr lang="en-US" dirty="0" smtClean="0"/>
              <a:t>almost </a:t>
            </a:r>
            <a:r>
              <a:rPr lang="en-US" dirty="0"/>
              <a:t>identical train and test performance, excellent generalization, highly stable model. This is a very strong result. For our case SVM appears to be the best-balanced model.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571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Train Models and Compares Metrics</a:t>
            </a:r>
            <a:endParaRPr lang="de-DE" dirty="0"/>
          </a:p>
        </p:txBody>
      </p:sp>
      <p:sp>
        <p:nvSpPr>
          <p:cNvPr id="4" name="AutoShape 2" descr="data:image/png;base64,iVBORw0KGgoAAAANSUhEUgAAAjcAAAHACAYAAABeV0mSAAAAOnRFWHRTb2Z0d2FyZQBNYXRwbG90bGliIHZlcnNpb24zLjEwLjAsIGh0dHBzOi8vbWF0cGxvdGxpYi5vcmcvlHJYcgAAAAlwSFlzAAAPYQAAD2EBqD+naQAASFJJREFUeJzt3Xl4VNX9x/HPZCEkhITsbAECRETZImsEQeqCSLVoay0/KVTRVgWXulSpXW0VrUtVRGmrQnEBxSpFtBWKCAIpewRcQkICQTAkgSwkgQCZ+/uDZmCSWZNZkpv363nmeZh779w5c42ZT+4553sshmEYAgAAMImQYDcAAADAlwg3AADAVAg3AADAVAg3AADAVAg3AADAVAg3AADAVAg3AADAVAg3AADAVAg3AADAVAg3AADAVNp0uFm3bp2uueYade3aVRaLRcuWLfP6HIZh6Omnn9Z5552niIgIdevWTY899pjvGwsAADwSFuwGBFN1dbUGDx6sW265Rddff32TznHPPfdo5cqVevrppzVw4EAdPXpUR48e9XFLAQCApywsnHmGxWLR+++/r8mTJ9u21dbW6pFHHtHixYtVXl6uAQMG6Mknn9Sll14qSfrqq680aNAg7d69W/369QtOwwEAgJ023S3lzqxZs5SVlaUlS5Zo586duuGGG3TVVVcpNzdXkvTBBx+od+/eWrFihdLS0tSrVy/deuut3LkBACCICDdOFBYWasGCBVq6dKkuueQS9enTRw888IDGjBmjBQsWSJLy8/O1f/9+LV26VIsWLdLChQu1bds2/eAHPwhy6wEAaLva9JgbV3bt2qW6ujqdd955dttra2uVkJAgSbJaraqtrdWiRYtsx7366qsaOnSocnJy6KoCACAICDdOVFVVKTQ0VNu2bVNoaKjdvujoaElSly5dFBYWZheA+vfvL+nMnR/CDQAAgUe4cSIjI0N1dXUqLi7WJZdc4vCY0aNH6/Tp09q7d6/69OkjSdqzZ48kqWfPngFrKwAAOKtNz5aqqqpSXl6epDNh5tlnn9X48eMVHx+vHj16aOrUqdqwYYOeeeYZZWRkqKSkRKtXr9agQYM0adIkWa1WDR8+XNHR0XruuedktVo1c+ZMxcTEaOXKlUH+dAAAtE1tOtx8+umnGj9+fKPt06dP18KFC3Xq1Cn98Y9/1KJFi3Tw4EElJiZq1KhR+v3vf6+BAwdKkg4dOqS77rpLK1euVIcOHTRx4kQ988wzio+PD/THAQAAauPhBgAAmA9TwQEAgKkQbgAAgKm0udlSVqtVhw4dUseOHWWxWILdHAAA4AHDMHTs2DF17dpVISGu7820uXBz6NAhpaamBrsZAACgCQ4cOKDu3bu7PKbNhZuOHTtKOnNxYmJigtwaAADgicrKSqWmptq+x11pc+GmvisqJiaGcAMAQCvjyZASBhQDAABTIdwAAABTIdwAAABTIdwAAABTIdwAAABTIdwAAABTIdwAAABTIdwAAABTIdwAAABTIdwAAABTaXPLLwAAAP/JL6nS/qM16pXQQWmJHYLSBsINAABotvKak7p7cbbW5ZbYto1NT9LcKRmKjQoPaFvolgIAAM129+Jsbcgrtdu2Ia9Udy3eEfC2EG4AAECz5JdUaV1uieoMw257nWFoXW6JCkqrA9oewg0AAGiW/UdrXO7fd4RwAwAAWpGe8VEu9/dKCOzAYsINAABolt5J0RqbnqRQi8Vue6jForHpSQGfNUW4AQAAzTZ3SoZG90202za6b6LmTskIeFuYCg4AAJotNipci2aMUEFptfYdqabODQAAMIe0xOCFmnpB7ZaaM2eOhg8fro4dOyo5OVmTJ09WTk6O29ctXbpU559/vtq3b6+BAwfqo48+CkBrAQBAaxDUcLN27VrNnDlT//3vf7Vq1SqdOnVKV155paqrnU8Z27hxo6ZMmaIZM2Zox44dmjx5siZPnqzdu3cHsOUAAKClshhGg4o7QVRSUqLk5GStXbtWY8eOdXjMjTfeqOrqaq1YscK2bdSoURoyZIjmz5/v9j0qKysVGxuriooKxcTE+KztAADAf7z5/m5Rs6UqKiokSfHx8U6PycrK0uWXX263bcKECcrKyvJr2wAAQOvQYgYUW61W3XvvvRo9erQGDBjg9LiioiKlpKTYbUtJSVFRUZHD42tra1VbW2t7XllZ6ZsGAwCAFqnF3LmZOXOmdu/erSVLlvj0vHPmzFFsbKztkZqa6tPzAwCAlqVFhJtZs2ZpxYoVWrNmjbp37+7y2M6dO+vw4cN22w4fPqzOnTs7PH727NmqqKiwPQ4cOOCzdgMAgJYnqOHGMAzNmjVL77//vj755BOlpaW5fU1mZqZWr15tt23VqlXKzMx0eHxERIRiYmLsHgAAwLyCOuZm5syZeuutt/TPf/5THTt2tI2biY2NVWRkpCRp2rRp6tatm+bMmSNJuueeezRu3Dg988wzmjRpkpYsWaKtW7fqr3/9a9A+BwAAaDmCeufm5ZdfVkVFhS699FJ16dLF9nj77bdtxxQWFurbb7+1Pb/44ov11ltv6a9//asGDx6sd999V8uWLXM5CBkAALQdLarOTSBQ5wYAgNan1da5AQAAaC7CDQAAMBXCDQAAMBXCDQAAMBXCDQAAMBXCDQAAMBXCDQAAMBXCDQAAMBXCDQAAMBXCDQAAMBXCDQAAMBXCDQAAMBXCDQAAMBXCDQAAMBXCDQAAMBXCDQAAMBXCDQAAMBXCDQAAMBXCDQAAMBXCDQAAMBXCDQAAMBXCDQAAMBXCDQAAMBXCDQAAMBXCDQAAMBXCDQAAMBXCDQAAMBXCDQAAMBXCDQAAMBXCDQAAMBXCDQAAMBXCDQAAMBXCDQAAMBXCDQAAMBXCDQAAMBXCDQAAMBXCDQAAMBXCDQAAMJWwYDcAAACYR35JlfYfrVGvhA5KS+wQlDYQbgAAQLOV15zU3YuztS63xLZtbHqS5k7JUGxUeEDbQrcUAABotrsXZ2tDXqndtg15pbpr8Y6At4VwAwAAmiW/pErrcktUZxh22+sMQ+tyS1RQWh3Q9hBuAABAs+w/WuNy/74jhBsAANCK9IyPcrm/V0JgBxYTbgAAQLP0TorW2PQkhVosdttDLRaNTU8K+Kwpwg0AAGi2uVMyNLpvot220X0TNXdKRsDbwlRwAADQbLFR4Vo0Y4QKSqu170g1dW4AAIA5pCUGL9TUo1sKAACYCuEGAACYCuEGAACYCuEGAACYCuEGAACYCuEGAACYCuEGAACYCuEGAACYCuEGAACYCuEGAACYCuEGAACYCuEGAACYCuEGAACYCuEGAACYCuEGAACYCuEGAACYCuEGAACYCuEGAACYCuEGAACYCuEGAACYCuEGAACYCuEGAACYCuEGAACYSlDDzbp163TNNdeoa9euslgsWrZsmcvjP/30U1kslkaPoqKiwDQYAFqA/JIqrckpVkFpdbCbAjTSEn4+w4L2zpKqq6s1ePBg3XLLLbr++us9fl1OTo5iYmJsz5OTk/3RPABoUcprTuruxdlal1ti2zY2PUlzp2QoNio8iC0DWtbPZ1DDzcSJEzVx4kSvX5ecnKxOnTr5vkEA0ILdvThbG/JK7bZtyCvVXYt3aNGMEUFqFXBGS/r5bJVjboYMGaIuXbroiiuu0IYNG1weW1tbq8rKSrsHALQ2+SVVWpdbojrDsNteZxhal1tCFxWCqqX9fLaqcNOlSxfNnz9f//jHP/SPf/xDqampuvTSS7V9+3anr5kzZ45iY2Ntj9TU1AC2GAB8Y//RGpf79x0h3CB4WtrPZ1C7pbzVr18/9evXz/b84osv1t69e/XnP/9Zr7/+usPXzJ49W/fdd5/teWVlJQEHQKvTMz7K5f5eCR0C1BKgsZb289mq7tw4MmLECOXl5TndHxERoZiYGLsHALQ2vZOiNTY9SaEWi932UItFY9OTlJZIuEHwtLSfz1YfbrKzs9WlS5dgNwMA/G7ulAyN7ptot21030TNnZIRpBYBZ7Wkn8+gdktVVVXZ3XUpKChQdna24uPj1aNHD82ePVsHDx7UokWLJEnPPfec0tLSdOGFF+rEiRN65ZVX9Mknn2jlypXB+ggAEDCxUeFaNGOECkqrte9ItXoldOCODVqMlvTzGdRws3XrVo0fP972vH5szPTp07Vw4UJ9++23KiwstO0/efKk7r//fh08eFBRUVEaNGiQ/vOf/9idAwDMLi2RUIOWqyX8fFoMo8G8LZOrrKxUbGysKioqGH8DAEAr4c33d6sfcwMAAHAuwg0AADAVwg0AADAVwg0AADAVwg0AADAVwg0AADAVwg0AADAVwg0AADCVVrUqOACYSX5JlfYfrWEZBcDHCDcAEGDlNSd19+JsrcstsW0bm56kuVMyFBsVHsSWAeZAtxQABNidb263CzaStC63RHe8uS1ILQLMhXADAAGUX1KljXuPONy3ce8RFZRWB7hFgPkQbgAggDYVOA42tv35rvcDcI9wAwABZXG51whQKwAzI9wAQACNTIt3uX9U74QAtQQwL8INAARQ76RoZToJMJm9E5gSDvgA4QYAAmz+1KEam55kt21sepLmTx0apBYB5kKdGwAIsNiocC2aMUIFpdXad6SaIn6AjxFuACBI0hIJNYA/0C0FAABMhXADAABMhXADAABMhXADAABMhXADAABMhXADAABMhXADAABMhXADAABMhXADAABMhXADAABMhXADAABMhXADAABMhXADAABMhXADAABMhXADAABMhXADAABMhXADAABMhXADAABMhXADAABMhXADAABMhXADAABMhXADAABMhXADAABMhXADAABMhXADAABMhXADAABMhXADAABMhXADAABMhXADAABMhXADAABMhXADAABMhXADAABMhXADAABMxetwYxiGcnNz9cUXX+j06dP+aBMAAECTeRVuCgoKNGjQIJ1//vkaNGiQ+vTpo61bt/qrbQAAAF7zKtw8+OCDOn36tN544w29++676t69u372s5/5q20AAABeC/Pm4PXr1+vdd9/VmDFjJEmjRo1S9+7dVV1drQ4dOvilgQAAAN7w6s5NcXGx0tPTbc+7dOmiyMhIFRcX+7xhAAAATeHVnRuLxaKqqipFRkbatoWEhOjYsWOqrKy0bYuJifFdCwEAALzgVbgxDEPnnXdeo20ZGRm2f1ssFtXV1fmuhQAAAF7wKtysWbPGX+0AAADwCa/Czbhx4/zVDgAAAJ/waYXi7du367vf/a4vTwkAAOAVr8PNxx9/rAceeEC//OUvlZ+fL0n6+uuvNXnyZA0fPlxWq9XnjQQAAPCUV91Sr776qm677TbFx8errKxMr7zyip599lnddddduvHGG7V7927179/fX20FAABwy6s7N88//7yefPJJlZaW6p133lFpaaleeukl7dq1S/PnzyfYAACAoLMYhmF4enCHDh30xRdfqFevXjIMQxEREVqzZo1Gjx7tzzb6VGVlpWJjY1VRUUE9HgAAWglvvr+9unNz/PhxRUVFSTpT0C8iIkJdunRpeksBAAB8zKsxN5L0yiuvKDo6WpJ0+vRpLVy4UImJiXbH3H333b5pHQAAgJe86pbq1auXLBaL6xNaLLZZVC0R3VIAALQ+3nx/e3XnZt++fc1pFwAAgN/5tIift9atW6drrrlGXbt2lcVi0bJly9y+5tNPP9VFF12kiIgI9e3bVwsXLvR7OwEAQOvhVbjJysrSihUr7LYtWrRIaWlpSk5O1k9/+lPV1tZ6fL7q6moNHjxY8+bN8+j4goICTZo0SePHj1d2drbuvfde3Xrrrfr444+9+RgAAMDEvOqWevTRR3XppZfalljYtWuXZsyYoZ/85Cfq37+/nnrqKXXt2lW/+93vPDrfxIkTNXHiRI/ff/78+UpLS9MzzzwjSerfv7/Wr1+vP//5z5owYYI3HwUAAJiUV3dusrOzddlll9meL1myRCNHjtTf/vY33XfffXrhhRf0zjvv+LyR9bKysnT55ZfbbZswYYKysrKcvqa2tlaVlZV2DwAAYF5ehZuysjKlpKTYnq9du9buzsvw4cN14MAB37WugaKiIrv3l6SUlBRVVlbq+PHjDl8zZ84cxcbG2h6pqal+ax8AAAg+r8JNSkqKCgoKJEknT57U9u3bNWrUKNv+Y8eOKTw83LctbKbZs2eroqLC9vBn+AIAAMHn1Zibq6++Wg8//LCefPJJLVu2TFFRUbrkkkts+3fu3Kk+ffr4vJH1OnfurMOHD9ttO3z4sGJiYhQZGenwNREREYqIiPBbmwAAQMviVbj5wx/+oOuvv17jxo1TdHS0Fi5cqHbt2tn2v/baa7ryyit93sh6mZmZ+uijj+y2rVq1SpmZmX57TwAA0Lp4FW4SExO1bt06VVRUKDo6WqGhoXb7ly5dqo4dO3p8vqqqKuXl5dmeFxQUKDs7W/Hx8erRo4dmz56tgwcPatGiRZKk22+/XS+++KJ+8Ytf6JZbbtEnn3yid955Rx9++KE3HwMAAJiYV+Hmlltu8ei41157zaPjtm7dqvHjx9ue33fffZKk6dOna+HChfr2229VWFho25+WlqYPP/xQP//5z/X888+re/fueuWVV5gGDgAAbLxaWyokJEQ9e/ZURkaGXL3s/fff90nj/IG1pQAAaH38trbUHXfcocWLF6ugoEA333yzpk6dqvj4+GY1FgAAwJe8mgo+b948ffvtt/rFL36hDz74QKmpqfrhD3+ojz/+2OWdHAAAgEDxqluqof3792vhwoVatGiRTp8+rS+++ELR0dG+bJ/P0S0FAEDr4833d7NWBQ8JCZHFYpFhGKqrq2vOqQAAAHzC63BTW1urxYsX64orrtB5552nXbt26cUXX1RhYWGLv2sDAADMz6sBxXfeeaeWLFmi1NRU3XLLLVq8eLESExP91TYAAACveT0VvEePHsrIyJDFYnF63HvvveeTxvkDY24AAGh9/DYVfNq0aS5DDQAAQLB5FW4WLlzop2YAAAD4RrNmSwEAALQ0hBsAAGAqhBsAAGAqhBsAAGAqhBsAAGAqhBsAAGAqhBsAAGAqhBsAAGAqhBsAAGAqhBsAAGAqhBsAAGAqhBsAAGAqhBsAAGAqhBsAAGAqhBsAAGAqhBsAAGAqhBsAAGAqhBsAAGAqhBsAAGAqhBsAAGAqhBsAAGAqhBsAAGAqhBsAAGAqhBsAAGAqhBsAAGAqhBsAAGAqhBsAAGAqhBsAAGAqhBsAAGAqhBsAAGAqhBsAAGAqhBsAAGAqhBsAAGAqhBsAAGAqhBsAAGAqhBsAAGAqhBsAAGAqhBsAAGAqhBsAAGAqYcFuAACg+fJLqrT/aI16JXRQWmKHYDcHCCrCDQC0YuU1J3X34mytyy2xbRubnqS5UzIUGxUexJYBwUO3FAC0YncvztaGvFK7bRvySnXX4h1BahEQfIQbAGil8kuqtC63RHWGYbe9zjC0LrdEBaXVQWoZEFyEGwBopfYfrXG5f98Rwg3aJsINALRSPeOjXO7vlcDAYrRNhBsAaKV6J0VrbHqSQi0Wu+2hFovGpicxawptFuEGAFqxuVMyNLpvot220X0TNXdKRpBaBAQfU8EBoBWLjQrXohkjVFBarX1HqqlzA4hwAwCmkJZIqAHq0S0FAABMhXADAABMhXADAABMhXADAABMhXADAABMhdlSAIAmWZtTrOxvynVRjzhdkp4U7OYANoQbAIBX9h+p1uR5G1RWc8q2LS4qXMtnjlFqguslIYBAoFsKAOCVhsFGkspqTunaees9en1+SZXW5BSzajn8hjs3AACPrc0pbhRs6pXVnNJnuSVOu6jKa07q7sXZWpdbYts2Nj1Jc6dkKDYq3C/tRdvEnRsAgMeyvyl3uX97YZnTfXcvztaGvFK7bRvySnXX4h2+aBpgQ7gBAHhsSPdOLvdf1CPO4fb8kiqtyy1RnWHYba8zDK3LLaGLCj5FuAEAeGxcv2TFOelCiosKd9oltf9ojcvz7jtCuIHvtIhwM2/ePPXq1Uvt27fXyJEjtXnzZqfHLly4UBaLxe7Rvn37ALYWAPynNQy2XT5zTKOAUz9bypme8a5nUfVKYNFP+E7QBxS//fbbuu+++zR//nyNHDlSzz33nCZMmKCcnBwlJyc7fE1MTIxycnJszy0WS6CaCwB+0ZoG26YmRGnHb67UvE/ytD7vzADiO8f3dfma3knRGpuepA15pXZdU6EWi0b3TWRFc/iUxTAadIAG2MiRIzV8+HC9+OKLkiSr1arU1FTdddddevjhhxsdv3DhQt17770qLy9v0vtVVlYqNjZWFRUViomJaU7TAYhCbk3V8LpNe3Wz0y/+RTNGBLGljTW1zk1FzSndtXhHqwhwaHm8+f4O6p2bkydPatu2bZo9e7ZtW0hIiC6//HJlZWU5fV1VVZV69uwpq9Wqiy66SI8//rguvPDCQDQZwP9QyK1pHF23mPZhqjxxutGx5w62bUl3NlzVudnxmyudvs5QUP+WRhsS1DE3paWlqqurU0pKit32lJQUFRUVOXxNv3799Nprr+mf//yn3njjDVmtVl188cX65ptvHB5fW1uryspKuweA5mtuIbe2ytF1cxRszvXf/CMtZhyOJ3VunGEqOAKlRQwo9kZmZqamTZumIUOGaNy4cXrvvfeUlJSkv/zlLw6PnzNnjmJjY22P1NTUALcYMJ/mfMG1Za6umyuz39ulmxds0finP9W0Vzerognn8JWm1rlhKjgCKajhJjExUaGhoTp8+LDd9sOHD6tz584enSM8PFwZGRnKy8tzuH/27NmqqKiwPQ4cONDsdgNtXXMKubVl7q6bJ1Mjgn2no6l1bpgKjkAKarhp166dhg4dqtWrV9u2Wa1WrV69WpmZmR6do66uTrt27VKXLl0c7o+IiFBMTIzdA0DzhLr5Gg4PaXU3hQPCXTA4v3NHt+cI9p2Opta5YSo4Ainov4Huu+8+/e1vf9Pf//53ffXVV7rjjjtUXV2tm2++WZI0bdo0uwHHjz76qFauXKn8/Hxt375dU6dO1f79+3XrrbcG6yMAbc7e0iqX+/OKXe9vS86tW+MqGEhSXId2WnTLcP38inQ9cOV5Ls8bzDsdTalzUz8VPLRB6Y5Qi0Vj05Na1IBptH5Br3Nz4403qqSkRL/5zW9UVFSkIUOG6N///rdtkHFhYaFCzvkrsKysTLfddpuKiooUFxenoUOHauPGjbrggguC9RGANojaUu44q1vz5PWD9NM3tjl8zca9R7Rx7xGPzu/JnY78kirtP1qjXgkdfBoe6uvcfJZbou2FZR6XAZg7JaPRVPDRfRM1d0qGz9oGSC2gzk2gUecGaL61OcWavmCL0/2vzxjR5mveOKtb0zupg3KbcWfLk9o3zS0I+PbmQmUVHNHoPom6YZjvJ2EUlFZr35Fqn4cumJs339+EGwBN0mf2h6pz8Nsj1CLtnTMp8A1qQfJLqvSdZ9b65dyehJSmFgTc9U25rntpo05bz74uLMSi5TNH64Jusb75AEATtZoifgBap/ySKofBRpLqDLW4onOS/7poHHE3M8hbc64fqM6x7T1qe/2U64Y8KQjYMNhI0mmroWvnbVDe41c3/QMAAUa4AeA1T6b1tpRwE4w1m9zNDMpIjdWOAxUen29U7wSPr2dT/9u8vbmwUbCpd9pqaOnWA37pogL8IeizpQC0Pu5+cYSFtJwBx3e+ub3RnYx1uSW6403Hg3p94YCbgPGzsX00tsGYpLio8EbXtSkziZo65TqrwPVA5g17S13uB1oSwg0Arx2qOO5y/8Ey1/sDJb+kyunso417j/itVoy7Yn2fO9jfv0uMRvZOsNvWlJlETZ1ynZmW4HC7rS19Er1qBxBMdEsBaALXd2ZayiyFTW7uRmzKP+KX7jN3xfo+zSnRV0XH7LZt3HtEF/dJ0JoHLm3yTKL6cUUPTDhTI8ebKdc3juihR5btdtg1FRZioUsKrQrhBoDXusa2d7m/e1xkgFriWsmxWpf7S6tc72+qcf2S1SkyXOXHG68B1TEirFGwqVd/l2l8v2Sv3s/ZuKLlM0frSM1Jj4PS8pmjde28DQ5nSwGtCd1SALxmdbPf2cDUQEvq6DqEJURH+O2905OjHW6P79DO5etWfH7I6xXAna22/fTKPRrfL9njO0Bd4yJ1cYPup4v7JKpbnOtxPEBLw50bAF5rLQOKR6bFu9w/qrfrcSZNlV9SpS37HS8e6m420zOr9tj+7cmsruZM/W7op4u2avM++3avyy3RbYu26p3bPVvvD2gJuHMDwGutZUBx76RoZToJMJleTK/2lq/q3HiyArivVtvOL6lqFGzqbd53NGgLdQJNQbgB0AStY0CxJM2fOrTRtOux6UmaP3Wo3aKWvuRJnRtPeLICuK9W216x85DL/R+62Q+0JIQbAF4LVndPUxgOotapOqvueHObvvPMWt28YIvGP/2ppr26WRU1jQcAN4W76dgLbx7ZKHC58uVB5wX/fLXa9tHqky73+2vwNeAPhBsAXgtEd4+v7qo4KuKXld949W1PuoC8MXdKhkb3tR+cWz8dOzYqXItmjNCaBy7VgpuH68nvD3R5rhfX5DX5vTzlbobWZf1TPD4XEGwMKAZ8KJDrFwXb/KlDddfiHQ6XNWgOXy6X4KqIX0NNGYDrSn2AcbUCdlrimW1rcopdnuuromMu2+XJe7kzrl+yYiPDVHH8dOPzR4a1+VXe0boQbgAfCMb6RcHmiy9UR5xNa75r8Q6XK1o74q6InyO+XherPsC44m7cjORZwUFP3suVFbMu0bXz1qvsnO65uKhwLZ85psnnBIKBcAP4gC+/kFub5n6hnsuX05ol90X8HPF0AG6gBWKQdmpClHb85kp9llui7YVluqhHHHds0CoRboBm8vUXclvmi9XG1+YUK/ubcl3UI85tEb9zhVosGt03sdH5A9HV6MnU8UAO0r4kPYlQg1aNcAM0ky++kFsjf3zpN2da8/4j1Zo8b4Ndl0pMe89/xdUPwK3/XPFR4XpmZW5AuhrdzeyIDA8x5c8Q4C+EG6CZfFVnJFi8DSn+HF9UP615Q16p6oyzHTHO7qqc69oX1zcaDFt54rRCLVKdgz6dzN4Jevz6gbbxQnFR4Y0GSDfkr65Gd8tZHD9l5Q4g4AWmggPN5Ks6I4FWXnNS017d7HWtl58u2tooANSX6PeFpkxrXptT7HCWj3Qm2AzsGmO3rb6IX1piB9vaS3e80XjKeONzuS+q58ranGI9v3qPPmvwPp4OKG4N/FUYEfAGd24AH5g7JaPRX/3e1hkJtNsWbdUWh+sIbdE7t1/s8DWelOhvbphryiwsd1Oph/aK0wv/d5HT8+WXVCnLi/DgbVejoy6z+llIqQlR6p0UrfTkaOUWVzk9R0uq+uxIW5wxiJaLcAP4gL+mRftLfklVo2BTb/O+MqchxZMS/bO+k+6TNnozC8vdSttWq+HyfJsKjnrVNm+7GhsGG0kqqzmla+et147fXClJevqGQfrevI1Oz9GSqj47wqKbaEnolgJ86NxujpasqesIBaNEv7OunHN9d1BXl+d4c1Ohy/0lx0541JYQyeuuxrU5xY2CTb2ymlP6LLdE+SVVOlpzSkNSOzk8zp+LfPoCi26ipeHODdAGHa12Pa6mtMpxiBnfL1kLN+53+jpfluh31JUTHRGqHw7rrvHnp9hNVe6dFK20hCgVHHE8c63OkJZuPaAbhqXatp07kNrTKeMXdI3xuqsx+5tyl/t/tWy39p/T7riocLvP7Kzq87lT3oM9bTuQd/QATxBugDaof+eOLvdf2GAAbr1Aluj/3osbVH7cPoRV1dbptQ379dqG/XZjViSpf9cYp+FGkjbsLdUNw1Idjg0Z1jPOozY9NPF8t+NHGoaOUDcrqO9v0OaymlPqk9RBt17SW6Mc3LFxN34nGFh0Ey0N3VJAG2R1Mzy1zup8/4pZlyiuwRd8XFS4Vsy6xCdtk84EhIbBpqGymlOaNHed7fk4N8FqdJ8zM7AcVZPevt9xl0pDnx8od7pv/5FqZTy6UtMXbNGfV+Xqx69uVsajK1VW4/qL35G9JdWa/d4u/fafXzSaveZq/E6wsOgmWhru3AAm5bp+jeu7Ca6iTyBK9Lub/VSv8kSdPsst0SXpSRqeFu/y2GG94p1Wk3ZXZ6aes+46yXnoWLLlgIdnb6y+rs7vrr1A+4/WqLjyhNvxO8HoomLRTbQ0hBvAZDyZkjvSTRDwZGaOP0v0x3eI8PjY97d/o0vSkzyqFN1czrrrXA0arj5Zp+iIUFXV1nn9fvV1db7zzFqPjt9eWBa0IMGim2hJCDeADwRi/SFPebKIZ++kaGX2TnBY28XTmTlvby5UVsERje6TaDdQt7nKa05q3R7XxfTOtfObCknu+9jDQizq1imyGS1z3l3nbtDwD4d11/s7DjkNQL5yUQ/Pxg75A4tuoiUh3ADN0NIKl3mziOf8qUMbFR50NjPnXLu+Kdd1L23U6f990S/bcUiz39ul5TNH64Jusc3+DHcvztaOwnKPjy+qOK6C0mq3XUunrYbT5R0s8qxInrNjhnTv5PJ1489P0dRRvfTRrm9VWlWr0BCLXl2/z4N39FxcVHiLCBMsuomWgHADNMOdb27Xxr32dz/W5Zbojje36a3bRgW8Pd4s4tnUwoPnBpt6p62Grp23QXmPX930xst5OHOl6qRV45/+VMN7ub5rUV94z1E16ah2oao+6b7byFl33bh+yY2mcNeLjQzT39YV2L1fckfPu908QfcPYI9wAzRRfklVo2BTb+PeI0FZ6LApi3h6Uwn47c2FjYJNvdNWo1EtGXcadue5C2eubNlXptjIcFWdOO1y0c2GoS7UIk17bYtH73G81vH6VZK0fOYYh2NO0pM7NuomLD7W/KnRv5jQT6esVrp/AAcIN0ATbSpwvRbRpvwjAQ83zVlV2xNZbj5zfS0Zd5x1591/5XnNal/F8VMa3jNOW86Z2u1sja/6UPfC6j0en/+aeeu19/FJDvc5GnPSrVOkx4OBvdW/a4zbKdhAW0W4AZqs6dOp/cmfi3hmpiVo2Q7n1WgTO0To+dV73N5NuHtxttY36H6qv7sR0z5MlSec3yFx5/tDu+tPNwy262rLL6nS9gNlDrve3BWgO1ed9Uyl46E945wOIK8fc5JfUqUP3FTubQ5v17cC2hLCDdBEvphO7Q/+WsRzbU6xio6dUKjlzHIGjryyvsD27/pxIKesVrsgkF1Y5nLQc3MZOntXprzmpKa9utnlgG93S0o09McVX6rinPBVf74j1bXaf7RG8VHhemZlrk8+y/CecdpeWO6Xu3CAmRFugCbqnRStYT3jtNVBddvhPeOC/uVjGL65d+So3L8nympOafwzn9qN0RmbnqRvyps+rsYTF3Y5W4vGk2nxqW7GKTVU0eCu0rrcEo196hOHBeyaa2RavCLbhfnlLhxgZoQboBlCLI67pixOtgeCr6enf/f5z3TMg5lEjjQcfLw+r0QuVnZwy9Vdo3pPr9yjRTNGeDwt3t2ij57wR7CRpKqTdX65CweYHeEGaKL8kipt3nfU4b7N+44GZbaU5NndCk+tzSlucrBxpDnBRnIfbCTZgou7mVcffH5Ihgx98b8igC1RfUVkb2a0ASDcAE3WEmdLeVPEzxN/WbvXl80LmH1Hqt1Oi392leezpIIl0cf1cIC2glXBgSZrebOlfL2+0tEmrGjdEpQeq1XvpOhGq5e3NsyIApqGcAM0UUucLVVcccLl/lIvi8d9d2DX5jQnaL44VKn8kiq/r+XkT2PTk+iKApqIcAM0Uf3ik454uvikrxUdcx1uDlUcd7ovv6RKa3KKVVB69u7OrMvSvXp/i6Se8ZG6PiO4oSgsxP1drJYsNjKMGVFAMxBugGaYP3WoxjYoVjc2PUnzpw4NSnvcLeDoaNXo+low33lmrW5esEXjn/5U017drIr/3fV424s1sgxJ+48eV++kaG+a7XNvbT4Q8F9uV/ZP0RX9fVMx+MX/uygoC68CZsGAYqAZ/FUwr6nG9UtWp8hwlR9v3B3TKdLxqtHuZleN7JOgfU9M0ktr8vRZbokuSU9S/64xunmB8/WY6nxUY6epak7WaefBwM6CGpgaq0kDu2jVV8XNOk90OwtrRQHNRLgBfKAlTdXtER+p8oONw02P+MhG27yZXXXn+L66c3xf2+tcyUh1vUJ3IOwrdd1GX/vuoK5KS+ygjO6x2tHE6eWs7g34Bt1SgInkl1Rp58FKh/t2Hqy0G08jNX121QE3r7NYznTPhTYoZuiutGEvL6sFu/Kv3YcDNlvqvJRoWwhceMvIRl2VroRYpJ4JUXp9xgjt+M2VSk3w3TUA2irCDWAi7qrtfthgv7taMF8erGw0yFiSsr8pd/m67YVlmjslQ6P7Jtq/n5sv7m5x7V3u90bNybqAzZZ6+obBtn/Xd1WueeBSLbh5uIb3imsU8s41pm+Sls8cQ1cU4EN0SwEmstNNd8jOA2f3l9ec1O+Wf+ny+KdW5tj+fe4SDqFu7sGEh4Q4HI+070i1y7E66Skx2rDXcdXnlmpA1xgNcjCQu/BItXZ+U64ZY9IUGX7ArvtveK84Tb+4ly7sGttiujMBMyHcACbidkUry9mBvne8sV1Z+a6rLJ9rQ16pbnrlv7riwhRtdhNA8orPjnc5dzySu8U8v3N+khZu3Odxm1qCG4Z2t3vuaKHRuKhwvXXrSNXWWYM+6BxoC+iWAloJR3VoGurY3vUYk/r9+SVVXgUb6cwg492HKvXnVbna4Oa1VSccLyTZOyna4VicUItFY9OTNPa8ZKe1g1qq8hP2XV+OVlAvqzmlmW9t1/h+yQQbIAC4cwO0cN6s8v3lIdfdUsf+t3r1pgL/dv1Un2wcbtbmFCv7m3L938hUSbL7PKP7JmrulAzll1RpwoUp2lxwxKNFMluC8JCzfyOuzSl2Os6nrOaUbSo9AP8i3AAtnCerfO/6plzXvbRRp90su10fOkrcVDJurm/PWQbCk26auKhw3bV4h8Np6S1d9oGys//2YKA14QbwP8IN0IK5q0OzZHOhRvZO8CjYSFJKjO9mI7nSJfbs+7jqptnxmyslSdNe3dwowLUWVbVn71J17uj6+naNbVxryBP5JVXaf7RGxZUnVFR5Qhf1iCMkAS4QbtBq1f/CN/MATXd1aB5+b5dX51v5ZZG+OFiu97Z/05xmuVU/BdyTbppunSJb5R2betdlnB1QnBzrOtz8PWufrrygs8dLKzjqkqxXX/CPujhAY4QbtDrejEFpyV5cnasNe0t1SXqSrfJvQ+7q0HirqrZO1764we/jWb4pOxPKPOmm8eSOUzBFtQtRzUmr0/3Dep1dHd7dquy7D1bqjje36S0P1+ty1CVZr6zmlK6dt9529wvAWcyWQqvz00VbG/0luy63RLct2hqkFnmmfrbTP7YdUK+HP9TTq/YoK/+o/vRxjno9/KE27bWfgbT/SLW+//JGn7cjEAN167+QPVnI09cBTpIu6NLRZ+dyFWwk+yrO7lZll6SNe4+4nPFWr75L0tU6XfV3vwDYI9ygVckvqdLmfWUO923ed7RF/qJvuOr2/Ut3Ojzuxr/91+75tS82HqvSWuw/elwFpdUa1y/Z6RIIcVFnFvJ0Nj28qX5wUTctvi1TA7rF+OR87pQeq7X9212Yq7fJg2n47rok620vdPz/A9CW0S2FViO/pEpzP8lzecyPX93c5C6q+qnKng7WfHT5F9qYX6qk6AgldIzQ6D6JumFYqm0s0PqcEn1ZVKmDZcdVWHbcozb8ccWX6pMcrT1Fx1ThYGXv1mTfkTOLbi6fOUbXzltvF9Tah4XoV5MusD2fOyWj0WypEIvUlB6rvJIqxUaF64UfZeg7z6xt1mfwxPxP9+qGYWemt9eHOXeh1JOP5elfnn9elasrzk/RBd1iPXwFYH4Ww13JUJOprKxUbGysKioqFBMTmL/s0DyuBlU6c3GfBI/HNTibquxosOaLq3O1/PND2lMc2BWnW6NFt4xQ9oFy7T9SrX/vLlL1ybpGxzS8zucu1ZCW2EGf5Zbojte3qspN19C5bhjaXU/9b62naa9u9vtg5ciwEH31x4m25weO1GjS3M9U6aSQoSSteeBSt4PgF2/er9nv7faoDSEWKX/OJM8aDLRS3nx/0y2FFs/VoEpnPB3XIDmfqnztvPVnz5dXYhsnQ7DxzLTXNuvZVXv0j+0HHQYbqfF1TkvsYFfF91DZcVV7EWwkKTri7A3puVMy1DO+adOvPdW1k/35UxOitPN3E5yO+8nsneDh7D7Pu+mshrR06wGPjwfMjnCDFs2TQZXO/GvXt42WLHh0+Re66rm1+uOKMwtGejJVWZL+75XNTfwEcMfRoNhd35Srz+wP9dB7uzzqwjlXfHQ7279jo8L16PcG+KCVzv3uexc63L74tkyNbdC9OTY9SfOnDvXovN7+cn5hda6XrwDMizE3aNG+PFTZ5Nc+9XGO/vRxjsN9XxdV6ZX1BRreI87lOW5dsFm13t04QBM0rNx73Usbmzyrq+HAZE/HwTRFZJicjs9ytCq6N/WYviry7mf/YNlxv9V+qh9fNqZvkn713QvcvwAIMsIN/MJVDZdzfwEXHqnWsuyDski67qLudl8U5TUn9Yt/fN7kNnjy3bjFzUwTgk1gXHROyHx7c2Gzat/86eMcPbtqj5bPHG0bZOtoULO3IkOl4w161wZ0i1NFzSmXg9fPXRXdG/EdIrw63irZDaD2Re2nlbu/1U/f2G57Xv9HwavThumyC1KafF7A3xhQDEm+qfabX1Klf+/+Vn/6eE+jfc/9cLAuPT/Z7cDgmPah+vCusUpNiNIN8zdqi5Np3zCPEEm3jEmz3RG49e9b9J+vipt93lCLtLfBINvPckuUlVeqT3NK9GXRMbevT+oYoUvSk/TUDYP1f3/7rzbubTyF25vB697IL6lq9myvi3p00nt3jm7y63s9/KHTffueYAAzAsub72/u3LRx2YVl+tU/d2v3wbO3wB39xXf/29natO+IMnsn6ruDuuiRZbt0pOqkhvWM0/1X9tM9S3Zo/1Hn053vfedzj6b2Vp6o02XPfqqx5yURbNoIq6RX1hfY7gikxvmmqF/d/wbZ1k/Tls50IQ3sFqvdh45JbsJNZu8EvfG/0JJfUuUw2EhnB6/7egmQ3knRGt4zTlv2N/3/g+2F5U1u26PLv3C5/48rvqSLCi0WA4pbsbU5xXp+9Z4mFa6rLyw3+aWNdsFGOrvitCS9/79quv/YcVDflJ3Q0m3faPqCLfqm7ISOn7Lqs7wjmvzSRpfBpp6nPQ0n6wyf/OWOlqmPiy/aGYu26seZPT0+1+Durmu7fPxFUaNtns6+yys5OytuU4HronueFOVrilemD280KNlbb2Tta9LrPt3j+v/BT74+3KTzAoHAnZtW6LM9xfrZ69tUc+rsgJDI8BBdkp6oKy7obPeX6mVPrdH+shpZJNUfPqxHJ9VJ2lFY7vD89StOv7Qmz+mAXKCpunZqr70upum/talQGd1jteObikb7wixSWlK0xp13ZmDrbX/f4vK9Gg4udrbKuiP2A4VdT8v2V9/+uYOS/5tf6nHdm3N5Wum4oT5J0covdf7avsm+W+IC8DXCTQv26PIv9OHuQwqRRQO7xeq6od21aON+ZTn4K/H4KatWflmslV8Wa/Z7u3T1hSlavqvxX62StNVJqGmIYANfCwuRPj9Q7vKYd7YU6rOHLmtUsXh4zzi9Mn24XXdptzjXNWy6dLJfpdubL/r6QoCSNDIt3sWR0qjeCR6ftynqByUvz/7W4f//rky4sHOT3nP21f21ysUd1NlX92/SeYFAINz4mbOS/q4G8L6+sUC/Xv6l3bZvK4u10sOumtNWw2mwAYLFojOzlr47d73L46pq6zyeRj2+X7IWbtzv9FyX9bef0ePpIp0v3DjE7nnvpGhl9k5wGCw8L8rXfPOnDm0U+samJ2lDXonDqfOhFtndyfVG76RoXdC5o8OB1xd07hiwzww0BeHGT5yV9E/p2E45h6vtbmMnR4crLDRUI3p10tGaOr+Xiwf8LURSWmKUak7WqXNse/3fyJ62L9mIsBAdP+18jn1E2NmhgO6mUY/rl6zYyDBVHG+81EFsZFijGjT1i3RuyCu1KwxpkdQuLETXDu5qd8fmXM6CxdwpGU7b52vOQt+XByt07bwNdlPow0IsWj6z6TOlJGnxTzOD/pmBpmAquJ9kPLqy1a7oDLhyQeeO2ne0RjVOllSQpKd+MMjpHYP7387WP3YcdPrac9eG8sSBIzWNatg4WxtMkipqTjn9wvakJkxTi/IFwtKtB7Rhb6ltEVdfacmfGW2HN9/fLSLczJs3T0899ZSKioo0ePBgzZ07VyNGjHB6/NKlS/XrX/9a+/btU3p6up588kldffXVHr2XP8NNfRdUmMWip1Y2rvUCBFvfxA7K83DNLWfqg0vawx86HEjrqL5MQ/6on/JZbom2F5Z5vKo7X9hA69KqFs58++23dd999+m3v/2ttm/frsGDB2vChAkqLnY8vmTjxo2aMmWKZsyYoR07dmjy5MmaPHmydu/2fhaBr+w/Uq2MR1dq+oIt+vOqXIINWqS4qHD9487RjaYWZ7iZTn2uc8dwfHjXGIWF2M8iCgux6INZY9yep+GYFnfbPXFJepLuuew8j4KN1HiRTgDmEfQ7NyNHjtTw4cP14osvSpKsVqtSU1N111136eGHH250/I033qjq6mqtWLHCtm3UqFEaMmSI5s+f7/b9/HHnhi4otHQNu2ka3rWoqDmlG+Zv0J5i53d16sdw1C9pUK85XSEPLv1cWfmlyuyd6FVXFIC2p9VUKD558qS2bdum2bNn27aFhITo8ssvV1ZWlsPXZGVl6b777rPbNmHCBC1btszh8bW1taqtrbU9r6xs+kKMjrhaVRqQpKiwENW4GEDbXPXjRVZ+WaQNe0sVHhKiU1arEjtEqGNkmMNumoYDdWOjwrXyvksbhR5PgssNw1KbPL6DQAPAH4IabkpLS1VXV6eUFPvpmikpKfr6668dvqaoqMjh8UVFjqc+z5kzR7///e9902AHsr8p99u50brVj03xxRpBjjxx/UCNPGcacnNCRr2GoccX5wSAQAv6mBt/mz17tioqKmyPAwcO+PT8Q7p38un5YA4WnR2bUj/9uCnCQiyNquyGWiwam56kH43owXgRAHAgqOEmMTFRoaGhOnzYfo2Sw4cPq3Nnx1U1O3fu7NXxERERiomJsXv40rh+yYrzYPoozCfURUX+D++yH1Q7d0qGLu7jvIptTPtQxbS3v5F6ZpzMaI3um2i3fXTfROqMAIALLWJA8YgRIzR37lxJZwYU9+jRQ7NmzXI6oLimpkYffPCBbdvFF1+sQYMGBW1AsaM6G46kJ0dryvBUPfrhV4329YyPavIaMG3VpAEp+nj3YTUu3+Z/b982Sh3bhzUqnBZikVbMGtNo0G29gtJqbco/IkNn7socqjhuNybG2XRmpi0DaOtaVZ2bt99+W9OnT9df/vIXjRgxQs8995zeeecdff3110pJSdG0adPUrVs3zZkzR9KZqeDjxo3TE088oUmTJmnJkiV6/PHHtX37dg0YMMDt+/mzzk3DL6bbX9+q/xYcUZ/EaD39wyF2X0q3v75VW/Yf1fCe8Zr/42GSznyBrdh5SK99lq+y/1VctUi6rH+yesZH6fwuMXZfhlc886lySxzPbukQHqLffW+AHnx3Z6N9lvqHRQ5LtrsTYpHah1p0/PSZF4dZpFMNznPlBSnamFeiqpP2A2lDJPVJ6qC9pdUKkRQVEarKE/bF4EIs9iuI3zomTevzSlRYWq3jpw11iYnQxl9ebtv/WW6Jbl+0VdWnrOoaE6H4Du20p7hK5yVHa+5NQx0OkD1yrFYlVbUa0/fMAoyS45k7Dy79XJ/llqhdaIgSotvpigs6687xfe3a66/CaQCAs1pVuJGkF1980VbEb8iQIXrhhRc0cuRISdKll16qXr16aeHChbbjly5dql/96le2In5/+tOfWkQRPwAA4B+tLtwEEuEGAIDWp1VVKAYAAPAlwg0AADAVwg0AADAVwg0AADAVwg0AADAVwg0AADAVwg0AADAVwg0AADAVwg0AADCVMPeHmEt9QebKysogtwQAAHiq/nvbk4UV2ly4OXbsmCQpNZUFDgEAaG2OHTum2NhYl8e0ubWlrFarDh06pI4dO8pisQS7OaZXWVmp1NRUHThwgLW8AoxrH1xc/+Dh2gePP6+9YRg6duyYunbtqpAQ16Nq2tydm5CQEHXv3j3YzWhzYmJi+CUTJFz74OL6Bw/XPnj8de3d3bGpx4BiAABgKoQbAABgKoQb+FVERIR++9vfKiIiIthNaXO49sHF9Q8ern3wtJRr3+YGFAMAAHPjzg0AADAVwg0AADAVwg0AADAVwg28NmfOHA0fPlwdO3ZUcnKyJk+erJycHLtjTpw4oZkzZyohIUHR0dH6/ve/r8OHD9sdU1hYqEmTJikqKkrJycl68MEHdfr06UB+lFbviSeekMVi0b333mvbxrX3n4MHD2rq1KlKSEhQZGSkBg4cqK1bt9r2G4ah3/zmN+rSpYsiIyN1+eWXKzc31+4cR48e1U033aSYmBh16tRJM2bMUFVVVaA/SqtTV1enX//610pLS1NkZKT69OmjP/zhD3al+Ln+vrFu3Tpdc8016tq1qywWi5YtW2a331fXeefOnbrkkkvUvn17paam6k9/+pPvPoQBeGnChAnGggULjN27dxvZ2dnG1VdfbfTo0cOoqqqyHXP77bcbqampxurVq42tW7cao0aNMi6++GLb/tOnTxsDBgwwLr/8cmPHjh3GRx99ZCQmJhqzZ88OxkdqlTZv3mz06tXLGDRokHHPPffYtnPt/ePo0aNGz549jZ/85CfGpk2bjPz8fOPjjz828vLybMc88cQTRmxsrLFs2TLj888/N6699lojLS3NOH78uO2Yq666yhg8eLDx3//+1/jss8+Mvn37GlOmTAnGR2pVHnvsMSMhIcFYsWKFUVBQYCxdutSIjo42nn/+edsxXH/f+Oijj4xHHnnEeO+99wxJxvvvv2+33xfXuaKiwkhJSTFuuukmY/fu3cbixYuNyMhI4y9/+YtPPgPhBs1WXFxsSDLWrl1rGIZhlJeXG+Hh4cbSpUttx3z11VeGJCMrK8swjDP/84SEhBhFRUW2Y15++WUjJibGqK2tDewHaIWOHTtmpKenG6tWrTLGjRtnCzdce/956KGHjDFjxjjdb7Vajc6dOxtPPfWUbVt5ebkRERFhLF682DAMw/jyyy8NScaWLVtsx/zrX/8yLBaLcfDgQf813gQmTZpk3HLLLXbbrr/+euOmm24yDIPr7y8Nw42vrvNLL71kxMXF2f3Oeeihh4x+/fr5pN10S6HZKioqJEnx8fGSpG3btunUqVO6/PLLbcecf/756tGjh7KysiRJWVlZGjhwoFJSUmzHTJgwQZWVlfriiy8C2PrWaebMmZo0aZLdNZa49v60fPlyDRs2TDfccIOSk5OVkZGhv/3tb7b9BQUFKioqsrv2sbGxGjlypN2179Spk4YNG2Y75vLLL1dISIg2bdoUuA/TCl188cVavXq19uzZI0n6/PPPtX79ek2cOFES1z9QfHWds7KyNHbsWLVr1852zIQJE5STk6OysrJmt7PNrS0F37Jarbr33ns1evRoDRgwQJJUVFSkdu3aqVOnTnbHpqSkqKioyHbMuV+u9fvr98G5JUuWaPv27dqyZUujfVx7/8nPz9fLL7+s++67T7/85S+1ZcsW3X333WrXrp2mT59uu3aOru251z45Odluf1hYmOLj47n2bjz88MOqrKzU+eefr9DQUNXV1emxxx7TTTfdJElc/wDx1XUuKipSWlpao3PU74uLi2tWOwk3aJaZM2dq9+7dWr9+fbCb0iYcOHBA99xzj1atWqX27dsHuzltitVq1bBhw/T4449LkjIyMrR7927Nnz9f06dPD3LrzO+dd97Rm2++qbfeeksXXnihsrOzde+996pr165cfzRCtxSabNasWVqxYoXWrFljt9J6586ddfLkSZWXl9sdf/jwYXXu3Nl2TMMZPPXP649BY9u2bVNxcbEuuugihYWFKSwsTGvXrtULL7ygsLAwpaSkcO39pEuXLrrgggvstvXv31+FhYWSzl47R9f23GtfXFxst//06dM6evQo196NBx98UA8//LB+9KMfaeDAgfrxj3+sn//855ozZ44krn+g+Oo6+/v3EOEGXjMMQ7NmzdL777+vTz75pNGtxaFDhyo8PFyrV6+2bcvJyVFhYaEyMzMlSZmZmdq1a5fd/wCrVq1STExMoy8QnHXZZZdp165dys7Otj2GDRumm266yfZvrr1/jB49ulHJgz179qhnz56SpLS0NHXu3Nnu2ldWVmrTpk121768vFzbtm2zHfPJJ5/IarVq5MiRAfgUrVdNTY1CQuy/skJDQ2W1WiVx/QPFV9c5MzNT69at06lTp2zHrFq1Sv369Wt2l5QkpoLDe3fccYcRGxtrfPrpp8a3335re9TU1NiOuf32240ePXoYn3zyibF161YjMzPTyMzMtO2vn4585ZVXGtnZ2ca///1vIykpienITXDubCnD4Nr7y+bNm42wsDDjscceM3Jzc40333zTiIqKMt544w3bMU888YTRqVMn45///Kexc+dO43vf+57DKbIZGRnGpk2bjPXr1xvp6elMRfbA9OnTjW7dutmmgr/33ntGYmKi8Ytf/MJ2DNffN44dO2bs2LHD2LFjhyHJePbZZ40dO3YY+/fvNwzDN9e5vLzcSElJMX784x8bu3fvNpYsWWJERUUxFRzBI8nhY8GCBbZjjh8/btx5551GXFycERUVZVx33XXGt99+a3eeffv2GRMnTjQiIyONxMRE4/777zdOnToV4E/T+jUMN1x7//nggw+MAQMGGBEREcb5559v/PWvf7Xbb7VajV//+tdGSkqKERERYVx22WVGTk6O3TFHjhwxpkyZYkRHRxsxMTHGzTffbBw7diyQH6NVqqysNO655x6jR48eRvv27Y3evXsbjzzyiN1UYq6/b6xZs8bh7/jp06cbhuG76/z5558bY8aMMSIiIoxu3boZTzzxhM8+A6uCAwAAU2HMDQAAMBXCDQAAMBXCDQAAMBXCDQAAMBXCDQAAMBXCDQAAMBXCDQAAMBXCDQAAMBXCDYBWZeHCherUqVOwmwGgBSPcAPCJn/zkJ7JYLI0eV111lU/f58Ybb9SePXt8ek5HLr30Ut17772NtjcMVwsXLrR91pCQEHXv3l0333xzo1WRAQROWLAbAMA8rrrqKi1YsMBuW0REhE/fIzIyUpGRkT49Z3PFxMQoJydHVqtVn3/+uW6++WYdOnRIH3/8cbCbBrRJ3LkB4DMRERHq3Lmz3SMuLs6232Kx6JVXXtF1112nqKgopaena/ny5XbnWL58udLT09W+fXuNHz9ef//732WxWFReXi6p8Z2T3/3udxoyZIhef/119erVS7GxsfrRj36kY8eO2Y6xWq2aM2eO0tLSFBkZqcGDB+vdd9/12ee2WCzq3LmzunbtqokTJ+ruu+/Wf/7zHx0/ftxn7wHAc4QbAAH1+9//Xj/84Q+1c+dOXX311brpppt09OhRSVJBQYF+8IMfaPLkyfr888/1s5/9TI888ojbc+7du1fLli3TihUrtGLFCq1du1ZPPPGEbf+cOXO0aNEizZ8/X1988YV+/vOfa+rUqVq7dq1fPmNkZKSsVqtOnz7tl/MDcMNn64sDaNOmT59uhIaGGh06dLB7PPbYY7ZjJBm/+tWvbM+rqqoMSca//vUvwzAM46GHHjIGDBhgd95HHnnEkGSUlZUZhmEYCxYsMGJjY237f/vb3xpRUVFGZWWlbduDDz5ojBw50jAMwzhx4oQRFRVlbNy40e68M2bMMKZMmeL084wbN84IDw9v9HkiIiLs3r9he/bs2WOcd955xrBhw1xfMAB+w5gbAD4zfvx4vfzyy3bb4uPj7Z4PGjTI9u8OHTooJibGNvg2JydHw4cPtzt+xIgRbt+3V69e6tixo+15ly5dbOfMy8tTTU2NrrjiCrvXnDx5UhkZGS7Pe9NNNzW6c/Tee+/p8ccft9tWUVGh6OhoWa1WnThxQmPGjNErr7zitt0A/INwA8BnOnTooL59+7o8Jjw83O65xWKR1Wpt1vu6OmdVVZUk6cMPP1S3bt3sjnM32Dk2NrbR50lOTm50XMeOHbV9+3aFhISoS5cuLW7AM9DWEG4AtBj9+vXTRx99ZLdty5YtzTrnBRdcoIiICBUWFmrcuHHNOpczISEhbkMdgMAh3ADwmdraWhUVFdltCwsLU2Jiokev/9nPfqZnn31WDz30kGbMmKHs7GwtXLhQ0pm7MU3RsWNHPfDAA/r5z38uq9WqMWPGqKKiQhs2bFBMTIymT5/epPMCaLkINwB85t///re6dOlit61fv376+uuvPXp9Wlqa3n33Xd1///16/vnnlZmZqUceeUR33HFHs+rl/OEPf1BSUpLmzJmj/Px8derUSRdddJF++ctfNvmcAFoui2EYRrAbAQDOPPbYY5o/f74OHDgQ7KYAaCW4cwOgRXnppZc0fPhwJSQkaMOGDXrqqac0a9asYDcLQCtCuAHQouTm5uqPf/yjjh49qh49euj+++/X7Nmzg90sAK0I3VIAAMBUWH4BAACYCuEGAACYCuEGAACYCuEGAACYCuEGAACYCuEGAACYCuEGAACYCuEGAACYCuEGAACYyv8DOG2qnavbNZ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412775"/>
            <a:ext cx="8004964" cy="1625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861048"/>
            <a:ext cx="7050886" cy="2354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825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Confusion Matrics - SVM</a:t>
            </a:r>
            <a:endParaRPr lang="de-DE" dirty="0"/>
          </a:p>
        </p:txBody>
      </p:sp>
      <p:sp>
        <p:nvSpPr>
          <p:cNvPr id="4" name="AutoShape 2" descr="data:image/png;base64,iVBORw0KGgoAAAANSUhEUgAAAlIAAAHNCAYAAADVB5V4AAAAOnRFWHRTb2Z0d2FyZQBNYXRwbG90bGliIHZlcnNpb24zLjEwLjAsIGh0dHBzOi8vbWF0cGxvdGxpYi5vcmcvlHJYcgAAAAlwSFlzAAAPYQAAD2EBqD+naQAAeepJREFUeJzt3XdYFFfbBvB7aUtzKYoURSAoomLDig1UFGOJqEnUGFuMJkZj7Ikp9sQaNZbEVE2iRo01sQUsWLEEFSuKBNGogJUuLMv5/uDd+VhAXTYLC+z9uy4vd848O+fMzuzOw8yZMzIhhAARERERlZiJoRtAREREVFExkSIiIiLSERMpIiIiIh0xkSIiIiLSERMpIiIiIh0xkSIiIiLSERMpIiIiIh0xkSIiIiLSERMpIiIiIh0xkSIyMJlMhpkzZxq6GZVeREQEZDIZIiIinhs3c+ZMyGQyPHjwoGwapifGth/JZDKMHTvWIHV7enpi2LBhBqmbyh8mUlRprV27FjKZTONf9erV0bFjR+zdu9fQzfvPrly5gpkzZ+LmzZuGbgrpICgoSNovTUxMoFAoULduXQwePBjh4eGGbl6p2bx5M2QyGbZv315kXuPGjSGTyXDo0KEi82rVqoU2bdqURROJSsTM0A0gKm2zZ8+Gl5cXhBBISkrC2rVr0b17d/z555/o2bOnoZunsytXrmDWrFkICgqCp6enoZtDOqhZsybmzZsHAMjIyMCNGzewbds2rFu3Dq+//jrWrVsHc3NzrZaVlZUFM7Py/5Perl07AMCxY8fQp08fqTw1NRWXLl2CmZkZjh8/jo4dO0rzbt++jdu3b2PAgAFl3l6iFyn/3zqi/+jll19G8+bNpekRI0bA2dkZv/32W4VOpMpSbm4u8vLyYGFhYeimVCp2dnZ48803Ncrmz5+PcePG4euvv4anpycWLFjwzPfn5eUhJycHlpaWsLS0LO3m6oWbmxu8vLxw7NgxjfLIyEgIIfDaa68VmaeeVidhROUJL+2R0bG3t4eVlVWRv94zMjIwadIkuLu7Qy6Xo27duli8eDGEEADy/+L39fWFr68vsrKypPc9evQIrq6uaNOmDVQqFQBg2LBhsLW1xT///IOQkBDY2NjAzc0Ns2fPlpb3POfOncPLL78MhUIBW1tbdO7cGSdPnpTmr127Fq+99hoAoGPHjtIlohf1//n9999Rv359WFpaws/PD9u3b8ewYcM0zmjdvHkTMpkMixcvxrJly+Dt7Q25XI4rV64AAA4ePIj27dvDxsYG9vb26N27N65evapRT+Flqqn7HxWk7uuyfv161K1bF5aWlmjWrBmOHDlS5P137tzBW2+9BWdnZ8jlcjRo0AA//fRTkbh///0XoaGhsLGxQfXq1TFhwgRkZ2c/97Mp7MGDB3j99dehUChQtWpVfPDBB3j69Kk0PzAwEI0bNy72vXXr1kVISEiJ6lMzNTXF8uXLUb9+faxcuRIpKSnSvIKfVYMGDSCXy7Fv3z5pnrqP1JYtWyCTyXD48OEiy//2228hk8lw6dIlqSwmJgavvvoqHB0dYWlpiebNm+OPP/7QeJ/6Uvnx48cxceJEODk5wcbGBn369MH9+/dLtI7t2rXDuXPnNL5Hx48fR4MGDfDyyy/j5MmTyMvL05gnk8nQtm3bIsvasWMH/Pz8pP1B/XkUpO1+k52djRkzZqB27dqQy+Vwd3fH1KlTX7jvKJVKzJo1C3Xq1IGlpSWqVq2Kdu3aVepLtFSAIKqk1qxZIwCI/fv3i/v374vk5GRx6dIl8c477wgTExMRFhYmxebl5YlOnToJmUwm3n77bbFy5UrRq1cvAUCMHz9eijt58qQwNTUVEyZMkMoGDBggrKysxLVr16SyoUOHCktLS1GnTh0xePBgsXLlStGzZ08BQHz22Wca7QQgZsyYIU1funRJ2NjYCFdXVzFnzhwxf/584eXlJeRyuTh58qQQQoi4uDgxbtw4AUB8/PHH4tdffxW//vqrSExMfObnsWvXLiGTyUSjRo3EkiVLxGeffSYcHByEn5+f8PDwkOLi4+MFAFG/fn3x0ksvifnz54ulS5eKhIQEER4eLszMzISPj49YuHChmDVrlqhWrZpwcHAQ8fHxGutfcJlqM2bMEIV/dgAIPz8/Ua1aNTF79myxYMEC4eHhIaysrMTFixeluMTERFGzZk3h7u4uZs+eLb755hvxyiuvCABi6dKlUlxmZqbw8fERlpaWYurUqWLZsmWiWbNmolGjRgKAOHTo0DM/o4JtbNiwoejVq5dYuXKlePPNNwUAMXjwYCnu+++/FwA02iiEEKdPnxYAxC+//PLcegIDA0WDBg2eOX/OnDkCgNi1a5fGZ1WvXj3h5OQkZs2aJVatWiXOnTsnzVPvR5mZmcLW1la89957RZbbsWNHjXovXbok7OzsRP369cWCBQvEypUrRYcOHYRMJhPbtm2T4tTfp6ZNm4pOnTqJFStWiEmTJglTU1Px+uuvP3ddC/v222+LbItOnTqJUaNGiRs3bggAIjo6WprXpEkTUa9ePY1lABCNGzeWvifLli0TL730krC2thYPHjyQ4rTdb1QqlejatauwtrYW48ePF99++60YO3asMDMzE71799ao28PDQwwdOlSa/vjjj4VMJhMjR44U33//vfjyyy/FwIEDxfz580v0uVDFxESKKi31D3/hf3K5XKxdu1YjdseOHQKAmDt3rkb5q6++KmQymbhx44ZUNm3aNGFiYiKOHDkifv/9dwFALFu2TON9Q4cOFQDE+++/L5Xl5eWJHj16CAsLC3H//n2pvHAiFRoaKiwsLERcXJxUdvfuXVGlShXRoUMHqUxd94sSA7WGDRuKmjVrirS0NKksIiJCACg2kVIoFCI5OVljGU2aNBHVq1cXDx8+lMqio6OFiYmJGDJkiMb6lySRAiD+/vtvqSwhIUFYWlqKPn36SGUjRowQrq6uGgdJIfITWTs7O5GZmSmEEGLZsmUCgNi8ebMUk5GRIWrXrl2iROqVV17RKH/vvfc0DvBPnjwRlpaW4sMPP9SIGzdunLCxsRHp6enPredFidT27dsFAPHVV19JZQCEiYmJuHz5cpH4wvvRwIEDRfXq1UVubq5Udu/ePWFiYiJmz54tlXXu3Fk0bNhQPH36VCrLy8sTbdq0EXXq1JHK1N+n4OBgkZeXJ5VPmDBBmJqaiidPnjx3fQu6fPmyACDmzJkjhBBCqVQKGxsb8fPPPwshhHB2dharVq0SQgiRmpoqTE1NxciRI4usr4WFhcZ3Mzo6WgAQK1askMq03W9+/fVXYWJiIo4ePaoRt3r1agFAHD9+XCornEg1btxY9OjRQ+v1p8qFl/ao0lu1ahXCw8MRHh6OdevWoWPHjnj77bexbds2KWbPnj0wNTXFuHHjNN47adIkCCE07vKbOXMmGjRogKFDh+K9995DYGBgkfepFbw9W31ZJicnB/v37y82XqVSISwsDKGhoXjppZekcldXV7zxxhs4duwYUlNTS/wZ3L17FxcvXsSQIUNga2srlQcGBqJhw4bFvqdfv35wcnKSpu/du4fz589j2LBhcHR0lMobNWqELl26YM+ePSVul1pAQACaNWsmTdeqVQu9e/fGX3/9BZVKBSEEtm7dil69ekEIgQcPHkj/QkJCkJKSgrNnzwLI35aurq549dVXpeVZW1tj1KhRJWrTmDFjNKbff/99aflAfv+m3r1747fffpMu16pUKmzatEm6rPhfqLdTWlqaRnlgYCDq16//wvf3798fycnJGpd7t2zZgry8PPTv3x9A/mXpgwcP4vXXX0daWpr0mT58+BAhISGIjY3FnTt3NJY7atQojcuz7du3h0qlQkJCgtbrVq9ePVStWlXq+xQdHY2MjAzprrw2bdrg+PHjAPL7TqlUqmL7RwUHB8Pb21uabtSoERQKBf755x8AKNF+8/vvv6NevXrw9fXViOvUqRMAFHsnoZq9vT0uX76M2NhYrT8DqjyYSFGl17JlSwQHByM4OBiDBg3C7t27Ub9+fSmpAYCEhAS4ubmhSpUqGu+tV6+eNF/NwsICP/30E+Lj45GWloY1a9YU6fcDACYmJhrJEAD4+PgAwDOHLLh//z4yMzNRt27dIvPq1auHvLw83L59W/uV/x91+2vXrl1kXnFlAODl5VXsMp7VtgcPHiAjI6PEbQOAOnXqFCnz8fFBZmYm7t+/j/v37+PJkyf47rvv4OTkpPFv+PDhAIDk5GSpnbVr1y6yTYprd0na5O3tDRMTE41tN2TIENy6dQtHjx4FAOzfvx9JSUkYPHhwieoqTnp6OgAU2ScLb5dn6datG+zs7LBp0yapbNOmTWjSpIm0H964cQNCCHz22WdFPtcZM2YA+P/PVa1WrVoa0w4ODgCAx48fa71uMpkMbdq0kfpCHT9+HNWrV5f2xYKJlPr/4hKpwm1Rt0fdlpLsN7Gxsbh8+XKROPVnVfhzKGj27Nl48uQJfHx80LBhQ0yZMgUXLlzQ+vOgio137ZHRMTExQceOHfHVV18hNjYWDRo0KPEy/vrrLwDA06dPERsbq/XBrSKxsrLS+b3FJZYApM74JaXuePzmm29i6NChxcY0atRIp2Vrq7h1CgkJgbOzM9atW4cOHTpg3bp1cHFxQXBw8H+uT90ZvHCiq+12kcvlCA0Nxfbt2/H1118jKSkJx48fxxdffCHFqD/XyZMnP7NzfOH6TU1Ni40TWtxEUVC7du3w559/4uLFizh+/LjGGFFt2rTBlClTcOfOHRw7dgxubm5F/ijRpi0l2W/y8vLQsGFDLFmypNg4d3f3Z65Lhw4dEBcXh507dyIsLAw//PADli5ditWrV+Ptt99+5vuocmAiRUYpNzcXwP//1e/h4YH9+/cjLS1N4wxATEyMNF/twoULmD17NoYPH47z58/j7bffxsWLF2FnZ6dRR15eHv755x/pL1oAuH79OgA8c9wnJycnWFtb49q1a0XmxcTEwMTERPpBf1ayUhx1+2/cuFFkXnFlz1vGs9pWrVo16XKWg4MDnjx5UiTuWZd/irskcv36dVhbW0uXF6tUqQKVSvXCJMXDwwOXLl2CEELjMyqu3c9TOEG+ceMG8vLyNLadqakp3njjDaxduxYLFizAjh07MHLkyGce4LWlUqmwYcMGWFtb/6db/vv374+ff/4ZBw4cwNWrVyGEkC7rAZCSE3Nzc70kfyVRcDyp48ePY/z48dK8Zs2aQS6XIyIiAqdOnUL37t11qsPJyUnr/cbb2xvR0dHo3Llzib5bao6Ojhg+fDiGDx+O9PR0dOjQATNnzmQiZQR4aY+MjlKpRFhYGCwsLKRLd927d4dKpcLKlSs1YpcuXQqZTIaXX35Zeu+wYcPg5uaGr776CmvXrkVSUhImTJhQbF0FlyeEwMqVK2Fubo7OnTsXG29qaoquXbti586dGpeQkpKSsGHDBrRr1w4KhQIApKSluISlMDc3N/j5+eGXX36RkkcAOHz4MC5evPjC9wP5/bSaNGmCn3/+WaPOS5cuISwsTONg5+3tjZSUFI3LG/fu3St2NGsgvx+Muq8KkD8A486dO9G1a1eYmprC1NQU/fr1w9atWzVu21crePt99+7dcffuXWzZskUqy8zMxHfffafVeqqtWrVKY3rFihUAIO0LaoMHD8bjx4/xzjvvID09vci4UCWlUqkwbtw4XL16FePGjZO2ty6Cg4Ph6OiITZs2YdOmTWjZsqVGcli9enUEBQXh22+/xb1794q8v6TDGpRE8+bNYWlpifXr1+POnTsaZ6Tkcjn8/f2xatUqZGRk6JxMlmS/ef3113Hnzh18//33ReKysrKee9n64cOHGtO2traoXbt2iYfcoIqJZ6So0tu7d690Zik5ORkbNmxAbGwsPvroI+kg1atXL3Ts2BGffPIJbt68icaNGyMsLAw7d+7E+PHjpQ6tc+fOxfnz53HgwAFUqVIFjRo1wvTp0/Hpp5/i1Vdf1UgmLC0tsW/fPgwdOhStWrXC3r17sXv3bnz88ccanbgLmzt3LsLDw9GuXTu89957MDMzw7fffovs7GwsXLhQimvSpAlMTU2xYMECpKSkQC6Xo1OnTqhevXqxy/3iiy/Qu3dvtG3bFsOHD8fjx4+xcuVK+Pn5aSRXz7No0SK8/PLLCAgIwIgRI5CVlYUVK1bAzs5O4zlvAwYMwIcffog+ffpg3LhxyMzMxDfffAMfHx+NhEnNz88PISEhGDduHORyOb7++msAwKxZs6SY+fPn49ChQ2jVqhVGjhyJ+vXr49GjRzh79iz279+PR48eAQBGjhyJlStXYsiQIYiKioKrqyt+/fVXWFtba7WOavHx8XjllVfQrVs3REZGYt26dXjjjTeKjB3VtGlT+Pn5SZ2V/f39ta4jJSUF69atA5Cf7KlHNo+Li8OAAQMwZ86cErW5MHNzc/Tt2xcbN25ERkYGFi9eXCRm1apVaNeuHRo2bIiRI0fipZdeQlJSEiIjI/Hvv/8iOjr6P7XhWSwsLNCiRQscPXoUcrlc42YDIP/y3pdffgngvw3Eqe1+M3jwYGzevBnvvvsuDh06hLZt20KlUiEmJgabN2/GX3/9pTGwb0H169dHUFAQmjVrBkdHR/z999/YsmWLwZ4FSGXMMDcLEpW+4oY/sLS0FE2aNBHffPONxi3cQgiRlpYmJkyYINzc3IS5ubmoU6eOWLRokRQXFRUlzMzMNIY0EEKI3Nxc0aJFC+Hm5iYeP34shMi//d/GxkbExcVJY9M4OzuLGTNmCJVKpfF+FLptXQghzp49K0JCQoStra2wtrYWHTt2FCdOnCiyjt9//7146aWXhKmpqVa39m/cuFH4+voKuVwu/Pz8xB9//CH69esnfH19pRj18AeLFi0qdhn79+8Xbdu2FVZWVkKhUIhevXqJK1euFIkLCwsTfn5+wsLCQtStW1esW7fumcMfjBkzRqxbt07UqVNHyOVy0bRp02LXJSkpSYwZM0a4u7sLc3Nz4eLiIjp37iy+++47jbiEhATxyiuvCGtra1GtWjXxwQcfiH379pVo+IMrV66IV199VVSpUkU4ODiIsWPHiqysrGLfs3DhQgFAfPHFF89ddkGBgYEa+6atra2oU6eOePPNNzXGOCtI/Vk9a17h/UgIIcLDwwUAIZPJxO3bt4t9b1xcnBgyZIhwcXER5ubmokaNGqJnz55iy5YtUoz6+3TmzBmN9x46dKhEw3AUNG3aNAFAtGnTpsi8bdu2CQCiSpUqGkM4qD3rsyg8NIEQ2u83OTk5YsGCBaJBgwZCLpcLBwcH0axZMzFr1iyRkpLyzDrmzp0rWrZsKezt7YWVlZXw9fUVn3/+ucjJySnhJ0IVkUyIEvYQJKIXGjZsGLZs2aL1mR5DatKkCZycnAw2CrNMJsOYMWOKXFatSL766itMmDABN2/eLPZOMiKqvNhHishIKJVKqZO9WkREBKKjoxEUFGSYRlUCQgj8+OOPCAwMZBJFZITYR4rISNy5cwfBwcF488034ebmhpiYGKxevRouLi549913Dd28CicjIwN//PEHDh06hIsXL2Lnzp2GbpLBpaenv/AsrJOT03++q5GoPOEZKSIj4eDggGbNmuGHH37A+++/j7Vr16JHjx44duwYqlataujm/Wfqh+rKZDJpxOyChBBwd3eHTCZDz549pfL09HTMmDEDfn5+sLGxQdWqVdGkSRN88MEHuHv3rhSnfuCy+p+dnR3eeOMN/PLLL5g4cSJeeeUVjfo8PT014qtXr4727ds/887FymDx4sVwdXV97j9dBpQlKs94RoqoFKxduxZr1641dDM0FB7lurzQdzdNS0tLaaiIgg4fPox///0XcrlcKlMqlejQoQNiYmIwdOhQvP/++0hPT8fly5exYcMG9OnTB25ubhrL+eabb2Bra4uMjAwcOHAAv//+O06dOlVsW5o0aYJJkyYByH9Mz7fffou+ffvim2++qZRnAYcMGfLCO+xcXFzKqDVEZYOJFBFVKt27d8fvv/+O5cuXw8zs/3/iNmzYgGbNmuHBgwdS2Y4dO3Du3DmsX78eb7zxhsZynj59Kj1CqKBXX30V1apVAwC88847GDBgADZt2oTTp0+jZcuWGrE1atTQGFdqyJAhqF27NpYuXVopE6mXXnqp2BHIiSozXtojokpl4MCBePjwocZdiDk5OdiyZUuRZCkuLg4A0LZt2yLLsbS01GowzPbt22ss63lcXFxQr149xMfHvzCWiCoGJlJEVKl4enoiICAAv/32m1S2d+9epKSkYMCAARqx6sfe/PLLLzpfYlSPQK9+eO/zKJVK3L59u1L0SSOifEykiKjSeeONN7Bjxw5kZWUBANavX4/AwMAi/Z1CQ0NRt25dTJ8+HV5eXhg+fDh++uknJCcnP3PZjx49woMHD5CQkIA1a9Zg1apVcHJyQocOHYrEKpVKPHjwAA8ePMCFCxcwZMgQJCUl4bXXXtPvChORwTCRIqJK5/XXX0dWVhZ27dqFtLQ07Nq1q8hlPQCwsrLCqVOnMGXKFAD5NwmMGDECrq6ueP/994t9VlrdunXh5OQET09PvPXWW6hduzb27t1b7CNowsLC4OTkBCcnJzRu3Bi///47Bg8ejAULFuh/pYnIINjZnIgqHScnJwQHB2PDhg3IzMyESqXCq6++WmysnZ0dFi5ciIULFyIhIQEHDhzA4sWLsXLlStjZ2WHu3Lka8Vu3boVCocD9+/exfPlyxMfHw8rKqthlt2rVCnPnzoVMJoO1tTXq1asHe3t7fa8uERkQEykiqpTeeOMNjBw5EomJiXj55Ze1SmA8PDzw1ltvoU+fPnjppZewfv36IolUhw4dpLv2evXqhYYNG2LQoEGIioqCiYnmSf5q1aohODhYb+tEROUPL+0RUaXUp08fmJiY4OTJk8Ve1nseBwcHeHt74969e8+Ns7W1xYwZM3D+/Hls3rz5vzSXiCooJlJEVCnZ2trim2++wcyZM9GrV69iY6KjozXGlVJLSEjAlStXULdu3RfWM2jQINSsWZP9noiMFC/tEVGlNXTo0OfODw8Px4wZM/DKK6+gdevWsLW1xT///IOffvoJ2dnZmDlz5gvrMDc3xwcffIApU6Zg37596Natm55aT0QVARMpIjJa/fr1Q1paGsLCwnDw4EE8evQIDg4OaNmyJSZNmoSOHTtqtZxRo0Zh7ty5mD9/PhMpIiMjE/p+0BURERGRkWAfKSIiIiIdMZEiIiIi0hETKSIiIiIdMZEiIiIi0hETKSIiIiIdMZEiIiIi0hHHkXqOvLw83L17F1WqVIFMJjN0c4iIiKgMCCGQlpYGNze3Is/QLIyJ1HPcvXsX7u7uhm4GERERGcDt27dRs2bN58YwkXqOKlWqAMj/IBUKhYFbU/aUSiXCwsLQtWtXmJubG7o5VMa4/Y0bt79xM/btn5qaCnd3dykPeB4mUs+hvpynUCiMNpGytraGQqEwyi+SseP2N27c/saN2z+fNt162NmciIiISEdMpIiIiIh0xESKiIiISEdMpIiIiIh0xESKiIiISEdMpIiIiIh0xESKiIiISEdMpIiIiIh0xESKiqVSqXD48GEcOXIEhw8fhkqlMnSTiIioDOTk5GD58uX47rvvsHz5cuTk5Bi6SeVaiROpI0eOoFevXnBzc4NMJsOOHTs05gshMH36dLi6usLKygrBwcGIjY3ViHn06BEGDRoEhUIBe3t7jBgxAunp6RoxFy5cQPv27WFpaQl3d3csXLiwSFt+//13+Pr6wtLSEg0bNsSePXtK3BYqatu2bfD29kaXLl2wZMkSdOnSBd7e3ti2bZuhm0ZERKVo6tSpsLGxweTJk7Fnzx5MnjwZNjY2mDp1qqGbVm6VOJHKyMhA48aNsWrVqmLnL1y4EMuXL8fq1atx6tQp2NjYICQkBE+fPpViBg0ahMuXLyM8PBy7du3CkSNHMGrUKGl+amoqunbtCg8PD0RFRWHRokWYOXMmvvvuOynmxIkTGDhwIEaMGIFz584hNDQUoaGhuHTpUonaQpq2bduGfv364datWxrlt27dQr9+/ZhMERFVUlOnTsWiRYtQtWpVrF69GmvWrMHq1atRtWpVLFq0iMnUs4j/AIDYvn27NJ2XlydcXFzEokWLpLInT54IuVwufvvtNyGEEFeuXBEAxJkzZ6SYvXv3CplMJu7cuSOEEOLrr78WDg4OIjs7W4r58MMPRd26daXp119/XfTo0UOjPa1atRLvvPOO1m15kZSUFAFApKSkaBVf0eXm5gqFQiEACBMTEwFA+qeeVigUIjc319BNpVKWm5srwsPDxcSJE0V4eDi3uRHKyckRO3bsEDk5OYZuCpWB7OxsYWZmJpydnUVqaqp49913RZMmTcS7774rUlNThbOzszAzM9M4LldmJTn+6/WhxfHx8UhMTERwcLBUZmdnh1atWiEyMhIDBgxAZGQk7O3t0bx5cykmODgYJiYmOHXqFPr06YPIyEh06NABFhYWUkxISAgWLFiAx48fw8HBAZGRkZg4caJG/SEhIdKlRm3aUlh2djays7Ol6dTUVAD5D29UKpX/7cOpAPbv3y+tc+fOnZGZmYlbt26hVq1asLa2Rnh4OFJTUxEWFqbxuVLlsn37dnz44Ye4efMmAGDJkiXw9PTEggUL0KdPH8M2jsqM+jfPGH77CFixYgVyc3Ph7OwMhUIhlZ8/fx6rV69Go0aNkJSUhBUrVmDcuHEGbGnZKMl+r9dEKjExEQDg7OysUe7s7CzNS0xMRPXq1TUbYWYGR0dHjRgvL68iy1DPc3BwQGJi4gvreVFbCps3bx5mzZpVpDwsLAzW1tbPWOvKY8mSJQAAc3NzhIeHS+W3b9+WypVKJebPn8/Oh5VUZGQkFi5ciObNm2P06NGoVasWbt26hS1btmDAgAGYOnUqAgICDN1MKkMFfwuo8jp48CCA/P7JxVGXHzx4ELVr1y6zdhlKZmam1rF6TaQqumnTpmmc5UpNTYW7uzu6du2qkaFXVuoO/c/KxNXlubm56N69e5m1i8qGSqXC+PHj0b17d2zduhUqlQrh4eEYO3YsPvjgA/Tr1w+bN2/GzJkzYWpqaujmUilTKpUIDw9Hly5dYG5ubujmUCm7cuWKdMOWXC7XuDpTcLpdu3ZG8fuvvjqjDb0mUi4uLgCApKQkuLq6SuVJSUlo0qSJFJOcnKzxvtzcXDx69Eh6v4uLC5KSkjRi1NMviik4/0VtKUwul0MulxcpNzc3N4ofEjc3N+m1iYkJXn/9dVhZWSErKwubN29GXl6eFGcMn4exOX78OG7evInffvsNZmZmOHr0KI4cOQIbGxt07NgRn3zyCdq0aYOTJ08iKCjI0M2lMmIsv3/GTn0pH4BGElV4+ubNm0axP5RkHfU6jpSXlxdcXFxw4MABqSw1NRWnTp2SLgcEBATgyZMniIqKkmIOHjyIvLw8tGrVSoo5cuSIxpmR8PBw1K1bFw4ODlJMwXrUMep6tGkLaSp4p55MJsPGjRuxZs0abNy4ETKZrNg4qjzu3bsHAIiLi0Pt2rU1hr+oXbs2/vnnH404Iqo8Ch6TAcDf3x9t27aFv7//c+MIJb9rLy0tTZw7d06cO3dOABBLliwR586dEwkJCUIIIebPny/s7e3Fzp07xYULF0Tv3r2Fl5eXyMrKkpbRrVs30bRpU3Hq1Clx7NgxUadOHTFw4EBp/pMnT4Szs7MYPHiwuHTpkti4caOwtrYW3377rRRz/PhxYWZmJhYvXiyuXr0qZsyYIczNzcXFixelGG3a8jzGdteeo6Ojxp16z/rn6Oho6KZSKTh06JC0jXv16iWOHj0qfvvtN3H06FHRq1cvad6hQ4cM3VQqA7xrz7j4+/sLAEImkz3399/f39/QTS0TJTn+lziRKvhjW/Df0KFDhRD5ww589tlnwtnZWcjlctG5c2dx7do1jWU8fPhQDBw4UNja2gqFQiGGDx8u0tLSNGKio6NFu3bthFwuFzVq1BDz588v0pbNmzcLHx8fYWFhIRo0aCB2796tMV+btjyPsSVS1apV0yqRqlatmqGbSqWg4O3PSqVS40CqVCqN7vZnY8dEyrh06tRJ+o13cnISr732mujUqZN47bXXhJOTkzSvU6dOhm5qmSjJ8V8mhBClc66r4ktNTYWdnR1SUlKMorP5yy+/jH379r0wrlu3bti7d28ZtIjKUkREBDp27AiZTIaePXtiypQpuHPnDmrUqIFFixZh165dEELg0KFD7CNlBJRKJfbs2YPu3bsbRZ8YY/fKK6/gzz//BJDfP6ht27bIy8uDiYkJjh8/LnW16dWrF/744w9DNrVMlOT4z7v2SKLt7Z4luS2UKg5136dff/0Vn376KTp06CDN8/Lywq+//oo333yTfaSIKjmlUomIiAhDN6PC4EOLSaLuTKyvOKpY1He3ent748aNGwgPD8fEiRMRHh6O2NhYvPTSSxpxRFR51KxZU69xxoSJFEns7Oz0GkcVS/v27eHp6YkvvvgCMpkMgYGB6NChAwIDAyGTyTBv3jx4eXmhffv2hm4qEemZ+g8lfcUZEyZSJCk4LISZmRm8vb3h6uoKb29vmJmZFRtHlYepqSm+/PJL7Nq1C6GhoTh58iSysrJw8uRJhIaGYteuXVi8eDEH4ySqhAqPHfVf44wJ+0iRxN7eXnqdm5uLuLi4F8ZR5dK3b19s2bIFEydO1Ogj5enpiS1btqBv374GbB0RlZZ169ZJr83NzdGgQQNkZWXBysoKly9fljqbr1u3Dp988omhmlkuMZEiyfnz5/UaR5UHb+4lqtzUAy2bmppCqVQW+Z03NTWFSqXigMzF4KU9kqgfzFzwMl5B6nJjeICzsdq2bRv69euHhIQEjfKEhAT069cP27ZtM1DLiKg0qS/Zq1SqYuery3lpvygmUiRRP2svNzcXJiaau4aJiQlyc3M14qhyUalUGDx4MID8U/tTp07FN998g6lTp0rjCA0ePPiZP7REVHF5e3vrNc6YMJEiSevWraXX6gcUFzddMI4qj/379yMzMxNmZmZIT0/H3Llz4erqirlz5yI9PR1mZmbIzMzE/v37Dd1UItKz0NBQvcYZEyZSJHn48KFe46hi+fLLLwEA48aNg4WFhcY8CwsLjBkzRiOOiCoPbQfg5ECdRTGRIsmDBw/0GkcVy+PHjwHkD2+Rk5OD5cuX47vvvsPy5cuRk5MjDXuhjiOiyuPSpUt6jTMmvGuPJPHx8dLratWqISgoCI8fP4aDgwMiIiKkBKpgHFUeLVq0wN9//42RI0diwIABUl+oPXv24MMPP0SVKlWkOCIiysczUiSJiYkBkH93no2NDbZs2YIDBw5gy5YtsLW1le7aU8dR5aK+ZPfkyZMiHcpVKhWePHmiEUdElYefn5/GdN26dREQEIC6des+N454RooKyMjIAJB/116DBg3Qq1cvXL9+HT4+Pvjnn39w8+ZNjTiqXLS9rZm3PxNVPh07dtTo/3Tt2rVnxpEmJlIk8fDwQGxsLID8yzlqYWFhkMlkGnFU+axYsQJA/lAXhe/aLFi+YsUKTJo0qaybR0SlaOfOnVrHTZ8+vZRbU7Hw0h5JCh4cC48jVTCR4kG0cjp27BiA/x/qQqFQwNraGgqFQqNcHUdElYe2N5HwZpOimEiRpFOnTtLr540jVTCOKg9LS0uN6dTUVGRmZiI1NfW5cURU8Tk7O+s1zpgwkSLJiRMn9BpHFUvBx8I8a2TzwnFEVDkUHjvuv8YZEyZSJLlz5470uuClvMLTBeOo8khJSZFeOzg4wNPTE3K5HJ6ennBwcCg2jogqhxs3bug1zpiwszlJ7t69CyD/L47c3FwIIaR5MpkM5ubmyMnJkeKocsnMzJRe379/H++99540XTCRLhhHRJWDUqnUa5wx4RkpkkRHRwMAcnJyULVqVQQGBqJ+/foIDAxE1apVkZOToxFHlYuXl5f0umbNmhrz3N3di40josrB2tpaY7pGjRpwdXVFjRo1nhtHPCNFBaSlpUmv79+/j8OHD78wjiqP+vXr49ChQwCA27dvw9/fH1ZWVsjKysLZs2c14oiocimcID2rCwcTqaKYSJGk4KU8fcRRxbJo0SKsWrVKmi6YPBWOI6LKRX3FQV9xxoSJFEkK3tZqbm6Odu3aIS8vDyYmJjh27Jh0bZy3v1ZOVlZWaNGiBc6cOQOZTIaqVatCqVTC3NwcDx8+hBACLVq0gJWVlaGbSkR6Zmdnp9c4Y8JEiiSXL1+WXiuVSukyz/PiqPJQqVS4f/8+7O3t8eTJE+kh1Wr29vZ48OABVCoVHxNDVMm0bNnymWehC8eRJnY2J0nhA+d/jaOK5ejRo7h58yaePHmCbt26wc/PD46OjvDz80O3bt3w5MkTxMfH4+jRo4ZuKhHp2eeff67XOGPCRIokHJDNuKk7l3p5eSE8PByXLl3Co0ePcOnSJYSHh0t363EcMaLK56OPPtJrnDFhIkWStm3b6jWOKpb79+8DAOLj46FSqTTmqVQqxMfHa8QRUeWxfft2vcYZEyZSJGndurXGdJ06daR/z4ujyqHg6OX6iCOiiqPwMzX/a5wxYSJFkjNnzmhMx8bGSv+eF0eVw8mTJ6XXFhYWmDp1Kr7++mtMnTpV43JuwTgiqhw4srnueNceSbR99AsfEVM5qUesNzExgaurKxYuXCjN8/T0xK1bt5CXl8eR7YkqIfUjwLSJI01MpEhia2ur1ziqWO7duwcAyMvLQ4MGDdC0aVPExcXB29sbOTk5uHnzpkYcEVUeFhYWWiVSvNmoKCZSJGnYsKFe46hicXNzw82bN2FiYoI9e/ZI5RcvXgSQ/+BiIQTc3NwM1UQiKiU1atTAtWvXtIojTUykSFJwfChHR0d07NgRjx8/hoODAw4dOoRHjx4ViaPKo0+fPjhx4gTy8vIA5N9soE6eYmNjpUcD9enTx5DNJKJS8PTpU73GGROZ4IPTnik1NRV2dnZISUmBQqEwdHNKXbNmzbQa2dbf3x9RUVFl0CIqS+np6ahSpcoL49LS0nh51wgolUrs2bMH3bt3Z78YI1C9enWthjZxcnJCcnJyGbTIsEpy/OddeySRyWTS68LPUys4XTCOKo8ffvhBr3FEVHFkZWXpNc6Y8NIeSVq0aCGdaerUqRO6du2K2NhY1KlTB2FhYdi9e7cUR5WPun+EmZkZcnNzi8xXl2vTj4KIKhZLS0ukp6drFUeamEiR5JVXXsHq1asBQCNxAjTv1HjllVfKvG1U+hITEwGg2CSqYLk6jogqDz8/P0RERGgVR5qYSJHkyZMn0uvCg64VvC22YBxVHtWrV5ded+/eHd26dcP169fh4+ODffv2SXfyFYwjosrBy8tLq0RK/cxN+n9MpEji6uqq1ziqWAqeaSqYOAH5g3QWF0dElcOpU6f0GmdM2NmcJG3atJEOmCEhIfDz84OjoyP8/PwQEhICIP+A2qZNG0M2k8qAegiEZ00TUeXy77//6jXOmPCMFEmOHj0qHTDDwsKkcYMePXqEy5cvA8g/oB49ehSdO3c2WDupdBQc+kA9flRx09oMkUBEFYupqale44wJz0iRpOD18cJDHBS8tKPNdXSqeJo0aSK9Ljy8XMHpgnFEVDkU/I3XR5wx4SdCEvVdWQ4ODnjy5AneffddNGnSBO+++y4eP34Me3t7jTiqXJydnfUaR0QVR+EbjP5rnDHhpT2SqO/GE0LA0dFRSpjOnz+PH374ATY2NhpxVLlo+zBiPrSYqPJJTU3Va5wx4RkpkqhP2T558gS5ubmoWrUqrK2tUbVqVeTm5iIlJUUjjiqXsLAwvcYRERkDnpEiiaenp8b0w4cPAQCZmZnPjaPK4datW3qNI6KKw9TUFCqVSqs40sRTC0QEANKlW33FEVHFUa1aNb3GGROekSLJlStX9BpHFVtwcDBcXFyQmJiI/fv3G7o5RETlEhMpkhR8tp4+4qhiKfzA0mclT9o82JSIKpaMjAy9xhkTJlIkefTokfS6a9euyMzMREJCAjw8PGBtbS11Mi4YR5VHVlaWXuOIyPAyMzMRExPzwriCD6Z/UdzZs2e1ivX19YW1tbVWsRUZEymSFOxoWPDOrNu3bz8zjiqP6tWr486dO1rFEVHFEBMTg2bNmulteY8ePdJ6eVFRUfD399db3eUVEymSyOVyZGdnaxVHlU/r1q1x7tw5reKIqGLw9fVFVFTUC+PS09MRGBj4wrjDhw/D1tZW67qNgUwUfhYESVJTU2FnZ4eUlBQoFApDN6fUBQUF4fDhw9K0vb29tP4FB+EMDAzkY2IqofT0dK2eo5eWlqb1DylVXEqlEnv27EH37t1hbm5u6OZQGWjZsiXOnDnzzPktWrTA6dOny7BFhlOS4z+HPyBJnTp1NKafPHmChISEIiOZF46jyuHUqVN6jSOiiuX06dNo0aJFsfOMKYkqKSZSJLl//75e46hiUZ9lrFu3brHz1eU8G0lUeZ0+fRppaWkI6vIyzKt5IKjLy0hLS2MS9Rx6T6RUKhU+++wzeHl5wcrKCt7e3pgzZ47G0+OFEJg+fTpcXV1hZWWF4OBgxMbGaizn0aNHGDRoEBQKBezt7TFixIgit11fuHAB7du3h6WlJdzd3bFw4cIi7fn999/h6+sLS0tLNGzYEHv27NH3Klca2l6u4WWdyu3atWslKieiysXW1hZLv/8VbiNWYen3v/I3/wX0nkgtWLAA33zzDVauXImrV69iwYIFWLhwIVasWCHFLFy4EMuXL8fq1atx6tQp2NjYICQkBE+fPpViBg0ahMuXLyM8PBy7du3CkSNHMGrUKGl+amoqunbtCg8PD0RFRWHRokWYOXMmvvvuOynmxIkTGDhwIEaMGIFz584hNDQUoaGhuHTpkr5Xu1Jo1KiRXuOoYmnfvr1e44iIjIHe79o7ceIEevfujR49egDIfy7bb7/9Jp0WFEJg2bJl+PTTT9G7d28AwC+//AJnZ2fs2LEDAwYMwNWrV7Fv3z6cOXMGzZs3BwCsWLEC3bt3x+LFi+Hm5ob169cjJycHP/30EywsLNCgQQOcP38eS5YskRKur776Ct26dcOUKVMAAHPmzEF4eDhWrlyJ1atX63vVKzz1s/X0FUcVS8FhLWQyGRo3bozs7GzI5XJER0dLZ5U5/AUR0f/TeyLVpk0bfPfdd7h+/Tp8fHwQHR2NY8eOYcmSJQCA+Ph4JCYmIjg4WHqPnZ0dWrVqhcjISAwYMACRkZGwt7eXkigg/3EVJiYmOHXqFPr06YPIyEh06NBBYxCxkJAQLFiwAI8fP4aDgwMiIyMxceJEjfaFhIRgx44dxbY9Oztb4/b/1NRUAPl3ryiVyv/82ZR3f//9t9ZxxvB5GJtffvlFei2EwPnz558ZV/D7S5WT+jvO77pxys3Nlf43xn2gJOus90Tqo48+QmpqKnx9faWnSX/++ecYNGgQACAxMREA4OzsrPE+Z2dnaV5iYmKRQf/MzMzg6OioEePl5VVkGep5Dg4OSExMfG49hc2bNw+zZs0qUh4WFmYUo7NqMxijOo59zSqfEydOaB3H7W88wsPDDd0EMoDb6QBghpMnT+KOEfaGyczM1DpW74nU5s2bsX79emzYsEG63DZ+/Hi4ublh6NCh+q5Or6ZNm6ZxBis1NRXu7u7o2rWrUYwj9dVXX0kdiqtXr44BAwbg6dOnsLS0xMaNG5GcnAwAcHNzQ/fu3Q3ZVCoFX3zxBW7duvXCOBcXF25/I6BUKhEeHo4uXbpwHCkjFH3rEXDxb7Ru3RqNazkaujllTn1FSht6T6SmTJmCjz76CAMGDAAANGzYEAkJCZg3bx6GDh0KFxcXAEBSUhJcXV2l9yUlJaFJkyYA8n+o1QdttdzcXDx69Eh6v4uLC5KSkjRi1NMvilHPL0wulxc7are5ublR/JAUPAv48OFDLF++XJo2MzPTiDOGz8PYyGQy6bWTkxNmz54tjXY/ffp0adgLmUzG7W9EjOX3jzSpf/PNzMyMcvuXZJ31ftdeZmYmTEw0F2tqaoq8vDwAgJeXF1xcXHDgwAFpfmpqKk6dOoWAgAAAQEBAAJ48eaIxrP3BgweRl5eHVq1aSTFHjhzRuI4ZHh6OunXrwsHBQYopWI86Rl0PaSqYLBXuUKy+Xl44jiqPgjcRPHz4EKNHj8Zbb72F0aNHF5lHRET59J5I9erVC59//jl2796NmzdvYvv27ViyZAn69OkDIP+v2fHjx2Pu3Ln4448/cPHiRQwZMgRubm4IDQ0FANSrVw/dunXDyJEjcfr0aRw/fhxjx47FgAED4ObmBgB44403YGFhgREjRuDy5cvYtGkTvvrqK41Lcx988AH27duHL7/8EjExMZg5cyb+/vtvjB07Vt+rXSl4eHjoNY4qloLJsvoPn+KmC8YRERk9oWepqanigw8+ELVq1RKWlpbipZdeEp988onIzs6WYvLy8sRnn30mnJ2dhVwuF507dxbXrl3TWM7Dhw/FwIEDha2trVAoFGL48OEiLS1NIyY6Olq0a9dOyOVyUaNGDTF//vwi7dm8ebPw8fERFhYWokGDBmL37t1ar0tKSooAIFJSUkr4KVRMu3btEgBe+G/Xrl2GbiqVgv79+2u1/fv372/oplIZyMnJETt27BA5OTmGbgoZwLmbD4THh7vEuZsPDN0UgyjJ8Z8PLX4OY3to8bvvvotvv/0WAGBlZYWsrCxpXsHpd955h+NwVULh4eHo2rXrC+PCwsLQpUuXMmgRGRIfWmzczic8ROg3J7FjdGs08ahq6OaUOT60mHRSsE/a8/LrgnFUeQQGBuo1jojIGDCRIom9vT2A/H5uhe9sdHFxkUarV8dR5aLtw4j50GIiov/HRIok6o76+/btw5UrVxAeHo6JEyciPDwcly9fRlhYmEYcVS5r1qzRaxwRkTHgfexGIDMzEzExMS+Mq1atmjRukJ2dHV59/XVYV6uJn9auRffu3aFUKmFpaYlq1arh7NmzWtXt6+trFKPCVwYnT57UaxwRkTFgImUEYmJi0KxZsxK9R6lU4rf164uUP336FC1bttR6OVFRUfD39y9R3WQYBcdkq169epEBOdWD5Brjc7eIiJ6FiZQR8PX1LVEH8YMHD2Lx4sUao8K7uLhg0qRJ6NSpU4nrpoqhWrVq0vMWmzVrhvr16+POnTvw9vZGs2bNsHfvXimOiIjyMZEyAtbW1iU6K+Tv748JEyZgze+7MG3Dccx7oy2Gv9YTpqampdhKMjRHx/9/ntZff/0lJU4ANJ5WUDCOiMjYMZGiYpmamqJ5QDvYnDdD84DWTKKMQMGxUp43srkxjKlGRKQt3rVHRACADh066DWOiMgYMJEiIgDQ+hmUfFYlEdH/YyJFRAAAlUql1zgiImPARIqIAABTpkwBALRq1apInzhTU1O0aNFCI46IiJhIEdH/xMbGAgDWr1+PzMxMLF68GN27d8fixYuRmZmJdevWacQRERETKSL6nzp16gAAfvjhB1hYWGDcuHEYNWoUxo0bBwsLC/z4448acURExESKiP5n0aJFAIAlS5YgJydHY15OTg6WLVumEUdEREykiOh/rKys0Lt3b+Tk5MDW1hZvvvkmdu7ciTfffBO2trbIyclB7969YWVlZeimEhGVGxyQk4gkO3bsQMuWLXHmzBls3rxZY16LFi2wY8cOwzSMiKic4hkpIpJs27YNf//9d5GzTlZWVvj777+xbds2A7WMiKh84hkpIgKQPz7U6NGjIYRAp06dEBISguvXr8PHxwd//fUXdu/ejdGjR6N37958ZBAR0f8wkSIiAEBERASSk5Ph6+uLy5cvY/fu3dI8T09P+Pr6IiYmBhEREejcubMBW0pEVH7w0h4RAchPpAAgJiYGfn5++OqrrzB27Fh89dVX8PPzQ0xMjEYcERHxjBQR/U9eXh4AwMfHBxcvXsSuXbukeR4eHvDx8cH169elOCIiYiJFRP9TtWpVAMD169dhaWmpMS8pKQlPnz7ViCMiIiZSRPQ/Tk5O0muFQoGlS5dCLpcjOzsbM2bMkBKpgnFERMaOiRQRAQCSk5Ol12lpaRg9erQ0bW1tXWwcEZGxY2dzIgIAPHr0CEB+H6nCZ52cnJzg4+OjEUdERDwjRUT/Y2KS/3dVbGwsevTogUmTJiE2NhZ16tRBeHi4NByCOo6IiJhIEVV6mZmZ0tAFz1OjRg0A+XfonT17VuOuPTc3N3h4eODmzZuoUaMGzp49q1Xdvr6+GpcFiYgqGyZSRJVcTEwMmjVrpnX8zZs3i5TdvXtXel2w79SLREVFwd/fX+t4IqKKhokUUSXn6+uLqKgorWIPHjyIKVOmSHfrqVlaWuLp06dYtGgROnXqVKK6iYgqMyZSRJWctbW11meF/P398dJLL2HixIlISEiQyl1cXPDll1+ib9++pdVMIqIKib1GiUhD3759ERcXh+9/24Fqvabg+9924MaNG0yiiIiKwTNSRFSEqakpmge0g815MzQPaA1TU1NDN4mIqFziGSkiIiIiHTGRIiIiItIREykiIiIiHTGRIiIiItIREykiIiIiHTGRIiIiItIRhz8gIiINOTk5WLFiBQ4ePIgbN27g/fffh4WFhaGbRVQu8YwUERFJpk6dChsbG0yePBl79uzB5MmTYWNjg6lTpxq6aUTlEs9IERERgPwkatGiRXB2dsasWbOkZy7OmDEDixYtAgAsXLjQwK0kKl94RoqIiJCTk4OlS5fC2dkZ//77L9566y04ODjgrbfewr///gtnZ2csXboUOTk5hm4qUbnCRIqIiPD1118jNzcXc+fOhZmZ5sUKMzMzzJ49G7m5ufj6668N1EKi8omJFBERIS4uDgDQs2fPYuery9VxRJSPiRQREcHb2xsAsGvXLqhUKhw+fBhHjhzB4cOHoVKpsGvXLo04IsrHzuZERIT33nsPU6ZMweTJkzFnzhzcunULALBkyRLUqlULKSkpMDMzw3vvvWfglhKVL0ykiIgIFhYW6NGjB3bu3ImsrCxMmTIFnp6euHnzJr766ivk5OSgd+/eHE+KqBAmUkREBJVKhejoaHh7eyMhIUEa7gDI72zu7e2NCxcuQKVSwdTU1IAtJSpf2EeKiIhw9OhR3Lx5E2+//Tbc3Nw05rm5uWHEiBGIj4/H0aNHDdRCovKJiRQREeHevXsAgI8//hiNGzfG0aNH8dtvv+Ho0aNo3LgxPvnkE404IsrHRIqIiFC9enUAQNu2bbFjxw60atUKVlZWaNWqFXbs2IG2bdtqxBFRPiZSRET0QkIIQzeBqFxiZ3MiIkJycjIA4NixY+jVqxcsLCwQFxeHtWvXIicnB8ePH9eII6J8TKSIiAiurq4AgHr16mHPnj1S+cWLF6Xyq1evSnFElI+JFBERoX379rC2tsbVq1dhbm6O9u3bIzc3F2ZmZjh69CiuXr0Ka2trtG/f3tBNJSpXSqWP1J07d/Dmm2+iatWqsLKyQsOGDfH3339L84UQmD59OlxdXWFlZYXg4GDExsZqLOPRo0cYNGgQFAoF7O3tMWLECKSnp2vEXLhwAe3bt4elpSXc3d2xcOHCIm35/fff4evrC0tLSzRs2FDjLy0iIsqXk5ODzMxMAICpqSkOHjyII0eO4ODBg9K4UZmZmcjJyTFkM4nKHb0nUo8fP0bbtm1hbm6OvXv34sqVK/jyyy/h4OAgxSxcuBDLly/H6tWrcerUKdjY2CAkJARPnz6VYgYNGoTLly8jPDwcu3btwpEjRzBq1ChpfmpqKrp27QoPDw9ERUVh0aJFmDlzJr777jsp5sSJExg4cCBGjBiBc+fOITQ0FKGhobh06ZK+V5uIqEKbMmWK9Do7O1tjXsHpgnFEVAqX9hYsWAB3d3esWbNGKvPy8pJeCyGwbNkyfPrpp+jduzcA4JdffoGzszN27NiBAQMG4OrVq9i3bx/OnDmD5s2bAwBWrFiB7t27Y/HixXBzc8P69euRk5ODn376CRYWFmjQoAHOnz+PJUuWSAnXV199hW7duklf/Dlz5iA8PBwrV67E6tWri7Q9Oztb4wcjNTUVAKBUKqFUKvX8SZV/ubm50v/GuP7GjtvfuMTExEivu3Xrhq5duyIuLg7e3t4ICwvD3r17pTjuD5WfsX//S7LOek+k/vjjD4SEhOC1117D4cOHUaNGDbz33nsYOXIkACA+Ph6JiYkIDg6W3mNnZ4dWrVohMjISAwYMQGRkJOzt7aUkCgCCg4NhYmKCU6dOoU+fPoiMjESHDh00nvsUEhKCBQsW4PHjx3BwcEBkZCQmTpyo0b6QkBDs2LGj2LbPmzcPs2bNKlIeFhYGa2vr//KxVEi30wHADCdPnsQdnsQzOtz+xkX9h6OjoyNGjhwJExMT6Y/gkSNH4tSpU3j06BFSU1PZRcIIGPv3X32ZWxt6T6T++ecffPPNN5g4cSI+/vhjnDlzBuPGjYOFhQWGDh2KxMREAICzs7PG+5ydnaV5iYmJRQZ9MzMzg6Ojo0ZMwTNdBZeZmJgIBwcHJCYmPreewqZNm6aReKWmpsLd3R1du3aFQqEo6UdR4UXfegRc/ButW7dG41qOhm4OlTFuf+Ny9OhRnDlzBmlpaejatStkMhnCw8PRpUsXCCGkRKtDhw7o3r27gVtLpc3Yv//q/V0bek+k8vLy0Lx5c3zxxRcAgKZNm+LSpUtYvXo1hg4dqu/q9Eoul0MulxcpNzc3h7m5uQFaZFhmZmbS/8a4/saO29+4WFlZAci/pOHo6Ihx48bBy8sLM2bMwPLly6VLPVZWVtwfjICxf/9Lss5672zu6uqK+vXra5TVq1cPt27dAgC4uLgAAJKSkjRikpKSpHkuLi5FBn3Lzc3Fo0ePNGKKW0bBOp4Vo55PRET5goKCAORf2svJycHixYsxZswYLF68GDk5OXB0dNSII6J8ek+k2rZti2vXrmmUXb9+HR4eHgDyO567uLjgwIED0vzU1FScOnUKAQEBAICAgAA8efIEUVFRUszBgweRl5eHVq1aSTFHjhzR6BAWHh6OunXrSncIBgQEaNSjjlHXQ0RE+YKCguDk5IRHjx7h5ZdfRmhoKBo2bIjQ0FC8/PLLePToEapXr85EiqgwoWenT58WZmZm4vPPPxexsbFi/fr1wtraWqxbt06KmT9/vrC3txc7d+4UFy5cEL179xZeXl4iKytLiunWrZto2rSpOHXqlDh27JioU6eOGDhwoDT/yZMnwtnZWQwePFhcunRJbNy4UVhbW4tvv/1Wijl+/LgwMzMTixcvFlevXhUzZswQ5ubm4uLFi1qtS0pKigAgUlJS9PDJVDznbj4QHh/uEuduPjB0U8gAuP2Nz9atWwUAYWVlJQBI/6ytrQUAsXXrVkM3kcqIsX//S3L813siJYQQf/75p/Dz8xNyuVz4+vqK7777TmN+Xl6e+Oyzz4Szs7OQy+Wic+fO4tq1axoxDx8+FAMHDhS2trZCoVCI4cOHi7S0NI2Y6Oho0a5dOyGXy0WNGjXE/Pnzi7Rl8+bNwsfHR1hYWIgGDRqI3bt3a70eTKSM+4tk7Lj9jdPWrVtFrVq1NBIpDw8PJlFGxti//yU5/pfKI2J69uyJnj17PnO+TCbD7NmzMXv27GfGODo6YsOGDc+tp1GjRjh69OhzY1577TW89tprz28wERFJZDKZoZtAVGGUyiNiiIio4tm2bRteffXVIjf7JCcn49VXX8W2bdsM1DKi8osPLSYiIqhUKowePRpCCHTq1AkhISG4fv06fHx88Ndff2H37t0YPXo0evfuLT17j4iYSBEREYCIiAgkJyfD19cXly9fxu7du6V5np6e8PX1RUxMDCIiItC5c2cDtpSofOGlPSIiQkREBID8Z+kVN/6e+ll86jgiysdEioiIkJeXJ70WQmjMKzhdMI6IeGmPiIgA2NvbS6+DgoJgZWWFGzduoHbt2sjKysK+ffuKxBEREykiIgLw+PFj6bU6aQKAixcvPjOOiHhpj4iIANy+fVuvcUTGgokUERHB1dVVr3FExoKJFBERITo6Wq9xRMaCiRQREeHkyZN6jSMyFkykiIgIOTk5eo0jMhZMpIiICA4ODtJrc3NzjXkWFhbFxhERhz8gIiIAderUwb179wDkD8AZFBSEvLw8mJiY4NixYxpxRPT/mEgRERFUKpX0Ojc395mPgikYR0S8tEdERMh/MLE+44iMBRMpIiLCoEGD9BpHZCyYSBEREUxMtDscaBtHZCz4jSAiIvz44496jSMyFkykiIgI+/fv12sckbFgIkVEREhNTdVrHJGxYCJFRETsI0WkI34jiIioyGjm/zWOyFgwkSIiIp6RItIRvxFERARra2u9xhEZCyZSRESk9TP0+Kw9Ik1MpIiICLGxsXqNIzIWTKSIiAj379/XaxyRsTAzdAOoZOIfZCAjO7dM6oq7nyH9b2ZWdruKjdwMXtVsyqw+IgKEEHqNIzIWTKQqkPgHGei4OKLM65205WKZ13lochCTKSIiKveYSFUg6jNRy/o3Qe3qtqVfX1Y2dkVEomdQAGys5KVeHwDcSE7H+E3ny+ysGxER0X/BRKoCql3dFn417Eq9HqVSiUQnwN/DgYPwEVVyCoVCq8e/KBSKMmgNFYddO8onJlJERJVYZmYmYmJiXhjn5uamVSLl5uaGs2fPalW3r68vx53SE3btKL+YSBERVWIxMTFo1qyZQZYXFRUFf39/vdVtzNi1o/xiIkVEVIn5+voiKirqhXEqlQpt27aFUql8Zoy5uTmOHz8OU1NTresm/WLXjvKHiRQRUSVmbW2t9VmhjRs3ol+/fs+d36JFC301jahS4ICcREQEAOjbty+2bt0KDw8PjXJPT09s3boVffv2NVDLiMovJlJERCTp27cv4uLi8P1vO1Ct1xR8/9sO3Lhxg0kU0TPw0h4REWkwNTVF84B2sDlvhuYBrbXuE0VkjHhGioiIiEhHTKSIiIiIdMREioiIiEhHTKSIiIiIdMREioiIiEhHTKSIiIiIdMThD4gqED79nYiofGEiRVRB8OnvRETlDxMpogqCT38nIip/mEgRVTB8+jsRUfnBzuZEREREOmIiRURERKQjJlJEREREOmIiRURERKQjJlJEREREOmIiRURERKQjJlJEREREOir1RGr+/PmQyWQYP368VPb06VOMGTMGVatWha2tLfr164ekpCSN9926dQs9evSAtbU1qlevjilTpiA3V3OQvoiICPj7+0Mul6N27dpYu3ZtkfpXrVoFT09PWFpaolWrVjh9+nRprCYREREZoVJNpM6cOYNvv/0WjRo10iifMGEC/vzzT/z+++84fPgw7t69i759+0rzVSoVevTogZycHJw4cQI///wz1q5di+nTp0sx8fHx6NGjBzp27Ijz589j/PjxePvtt/HXX39JMZs2bcLEiRMxY8YMnD17Fo0bN0ZISAiSk5NLc7WJiIjISJTayObp6ekYNGgQvv/+e8ydO1cqT0lJwY8//ogNGzagU6dOAIA1a9agXr16OHnyJFq3bo2wsDBcuXIF+/fvh7OzM5o0aYI5c+bgww8/xMyZM2FhYYHVq1fDy8sLX375JQCgXr16OHbsGJYuXYqQkBAAwJIlSzBy5EgMHz4cALB69Wrs3r0bP/30Ez766KMibc7OzkZ2drY0nZqaCiB/hGelUlk6H1QJqM/I5ebmlkl71HWU5bqX9TpWJNz+VJa4LcoXfv/LVknqL7VEasyYMejRoweCg4M1EqmoqCgolUoEBwdLZb6+vqhVqxYiIyPRunVrREZGomHDhnB2dpZiQkJCMHr0aFy+fBlNmzZFZGSkxjLUMepLiDk5OYiKisK0adOk+SYmJggODkZkZGSxbZ43bx5mzZpVpDwsLAzW1tY6fQ76dDsdAMxw7NgxJJT+o9Yk4eHhZVaXodaxIuD2p7Kk3hYnT57EnUuGbg3x+1+2MjMztY4tlURq48aNOHv2LM6cOVNkXmJiIiwsLGBvb69R7uzsjMTERCmmYBKlnq+e97yY1NRUZGVl4fHjx1CpVMXGxMTEFNvuadOmYeLEidJ0amoq3N3d0bVrVygUCi3WvHRdvpuKL6+GoWZjT3g52ZR6fbm5uTh18hRatW4FM7OyeSyjuJ8B2dWbaNeuKxq4Gf4zL08u303F4osn0a5duzL5bJRKJcLDw9GlS5cye9ZeWa8jPVv0rUfAxb/RunVrNK7laOjmGD1+/8uW+oqUNvR+dLx9+zY++OADhIeHw9LSUt+LL1VyuRxyedGn3Jubm5eLh7aamZnB3P4UPov6okzr/Xr/12Van7l9Z5iZdS8Xn3l5ok5mzczMyvSzKcv931DrSEVxW5Qv/P6XrZLUr/dEKioqCsnJyfD395fKVCoVjhw5gpUrV+Kvv/5CTk4Onjx5onFWKikpCS4uLgAAFxeXInfXqe/qKxhT+E6/pKQkKBQKWFlZwdTUFKampsXGqJdRESmftMKXPd6Ad/XSP++Zm5uL48eOo227tmV2RiouOR3j1seVSV1ERET/ld6Pjp07d8bFixc1yoYPHw5fX198+OGHcHd3h7m5OQ4cOIB+/foBAK5du4Zbt24hICAAABAQEIDPP/8cycnJqF69OoD867QKhQL169eXYvbs2aNRT3h4uLQMCwsLNGvWDAcOHEBoaCgAIC8vDwcOHMDYsWP1vdplRuQq4KWoi/pV7Uq9LqVSiXizeNRzrFdmfx3kPU2ByL1fJnURERH9V3pPpKpUqQI/Pz+NMhsbG1StWlUqHzFiBCZOnAhHR0coFAq8//77CAgIQOvWrQEAXbt2Rf369TF48GAsXLgQiYmJ+PTTTzFmzBjp0tu7776LlStXYurUqXjrrbdw8OBBbN68Gbt375bqnThxIoYOHYrmzZujZcuWWLZsGTIyMqS7+IiIiIj+i7K5XlPI0qVLYWJign79+iE7OxshISH4+uv/74djamqKXbt2YfTo0QgICICNjQ2GDh2K2bNnSzFeXl7YvXs3JkyYgK+++go1a9bEDz/8IA19AAD9+/fH/fv3MX36dCQmJqJJkybYt29fkQ7oRERERLook0QqIiJCY9rS0hKrVq3CqlWrnvkeDw+PIpfuCgsKCsK5c+eeGzN27NgKfSmPiIiIyi8+a4+IiIhIR0ykiIiIiHTERIqIiIhIR0ykiIiIiHTERIqIiIhIR0ykiIiIiHTERIqIiIhIR0ykiIiIiHRkkJHNiYiIqGRkZqmIT70GE8uyeWj93dy7uProapk9tD4+NR0ys9QyqUufmEgRERFVAOb2p/Dx6S/KtM6v93394iA9MrfvDKB7mdb5XzGRIiIiqgCUT1rhyx5vwLt62ZyROn7sONq2a1tmZ6TiktMxbn1cmdSlT0ykiCoQntonMl4iVwEvRV3Ur2pX6nUplUrEm8WjnmM9mJubl3p9AJD3NAUi936Z1KVPTKSIKhCe2iciKl+YSBFVIDy1T0RUvjCRIqpAeGqfiKh84ThSRERERDpiIkVERESkIyZSRERERDpiIkVERESkIyZSRERERDpiIkVERESkIyZSRERERDriOFJERBVE/IMMZGTnlkldcfczpP/LakBWALCRm8Grmk2Z1Uf0XzGRqkCylCoAwKU7KWVSX0ZWNv6+D7gkPIaNlbxM6ryRnF4m9RBVNPEPMtBxcUSZ1ztpy8Uyr/PQ5CAmU1RhMJGqQOL+l2R8tK0sf9jM8OuNM2VYXz4bOXdNooLUZ6KW9W+C2mXwiKCMrGzsiohEz6CAMv1Davym82V21o1IH3i0qkC6NnABAHhXt4WVuWmp13ftXgombbmIL19tiLqupf9IEjWe2id6ttrVbeFXo2weEZToBPh7OJTZI4KIKiImUhWIo40FBrSsVWb15ebm/1Xo7WRTJj/cREREFQ3v2iMiIiLSERMpIiIiIh0xkSIiIiLSERMpIiIiIh0xkSIiIiLSERMpIiIiIh0xkSIiIiLSERMpIiIiIh1xQE6iCoLPWiQiKn+YSBFVEHzWIhFR+cNfK6IKgs9aJCIqf5hIEVUQfNYiEVH5w87mRERERDpiIkVERESkI17aIyIiKud41275xUSKiKiCkJmlIj71GkwsbUu9rtzcXNzNvYurj67CzKxsDhXxqemQmaWWSV0VDe/aLb8qVmuJiIyYuf0pfHz6izKt8+t9X5dpfeb2nQF0L9M6KwLetVt+MZEiIqoglE9a4cseb8C7etmckTp+7DjatmtbZmek4pLTMW59XJnUVdHwrt3yi4kUEVEFIXIV8FLURf2qpX9gUyqViDeLRz3HejA3Ny/1+gAg72kKRO79MqmLSF941x4RERGRjphIEREREemIiRQRERGRjphIEREREemIiRQRERGRjphIEREREemIiRQRERGRjphIEREREemIiRQRERGRjvSeSM2bNw8tWrRAlSpVUL16dYSGhuLatWsaMU+fPsWYMWNQtWpV2Nraol+/fkhKStKIuXXrFnr06AFra2tUr14dU6ZMkYasV4uIiIC/vz/kcjlq166NtWvXFmnPqlWr4OnpCUtLS7Rq1QqnT5/W9yoTERGRkdJ7InX48GGMGTMGJ0+eRHh4OJRKJbp27YqMjAwpZsKECfjzzz/x+++/4/Dhw7h79y769u0rzVepVOjRowdycnJw4sQJ/Pzzz1i7di2mT58uxcTHx6NHjx7o2LEjzp8/j/Hjx+Ptt9/GX3/9JcVs2rQJEydOxIwZM3D27Fk0btwYISEhSE5O1vdqExERkRHS+7P29u3bpzG9du1aVK9eHVFRUejQoQNSUlLw448/YsOGDejUqRMAYM2aNahXrx5OnjyJ1q1bIywsDFeuXMH+/fvh7OyMJk2aYM6cOfjwww8xc+ZMWFhYYPXq1fDy8sKXX34JAKhXrx6OHTuGpUuXIiQkBACwZMkSjBw5EsOHDwcArF69Grt378ZPP/2Ejz76SN+rTkREREam1B9anJKSAgBwdHQEAERFRUGpVCI4OFiK8fX1Ra1atRAZGYnWrVsjMjISDRs2hLOzsxQTEhKC0aNH4/Lly2jatCkiIyM1lqGOGT9+PAAgJycHUVFRmDZtmjTfxMQEwcHBiIyMLLat2dnZyM7OlqZTU1MB5D+8U6lU/odPoWJSX0rNzc01yvU3dtz+5UtZbw91HWW57bnPlR/Gvi1Kss6lmkjl5eVh/PjxaNu2Lfz8/AAAiYmJsLCwgL29vUass7MzEhMTpZiCSZR6vnre82JSU1ORlZWFx48fQ6VSFRsTExNTbHvnzZuHWbNmFSkPCwuDtbW1lmtdedxOBwAznDx5EncuGbo1VNa4/csX9fY4duwYEmzLrt7w8PAyq8tQ60hFGfv3PzMzU+vYUk2kxowZg0uXLuHYsWOlWY3eTJs2DRMnTpSmU1NT4e7ujq5du0KhUBiwZYYRfesRcPFvtG7dGo1rORq6OVTGuP3Ll78THgMXz8DhpUbwcCv936OMp9nYd/QMurVvARtLeanXBwDK+xnAxYto164dGpTBOtKzGfv3X31FShullkiNHTsWu3btwpEjR1CzZk2p3MXFBTk5OXjy5InGWamkpCS4uLhIMYXvrlPf1VcwpvCdfklJSVAoFLCysoKpqSlMTU2LjVEvozC5XA65vOgPhrm5OczNzbVc88rDzMxM+t8Y19/YcfuXLwmPngIAPtl5pQxrNcOvN86VYX357Gwsuc8ZmLF//0uyznpPpIQQeP/997F9+3ZERETAy8tLY36zZs1gbm6OAwcOoF+/fgCAa9eu4datWwgICAAABAQE4PPPP0dycjKqV68OIP/0skKhQP369aWYPXv2aCw7PDxcWoaFhQWaNWuGAwcOIDQ0FED+pcYDBw5g7Nix+l5tIqJS1bVB/h+A3tVtYWVuWur1XbuXgklbLuLLVxuirqtdqdenZiM3g1c1mzKrj+i/0nsiNWbMGGzYsAE7d+5ElSpVpD5NdnZ2sLKygp2dHUaMGIGJEyfC0dERCoUC77//PgICAtC6dWsAQNeuXVG/fn0MHjwYCxcuRGJiIj799FOMGTNGOmP07rvvYuXKlZg6dSreeustHDx4EJs3b8bu3bultkycOBFDhw5F8+bN0bJlSyxbtgwZGRnSXXxERBWFo40FBrSsVWb1qTsbezvZwK9G2SVSRBWN3hOpb775BgAQFBSkUb5mzRoMGzYMALB06VKYmJigX79+yM7ORkhICL7++msp1tTUFLt27cLo0aMREBAAGxsbDB06FLNnz5ZivLy8sHv3bkyYMAFfffUVatasiR9++EEa+gAA+vfvj/v372P69OlITExEkyZNsG/fviId0ImIiIh0USqX9l7E0tISq1atwqpVq54Z4+HhUeTSXWFBQUE4d+751+/Hjh3LS3lERERUKvisPSIiIiIdMZEiIiIi0hETKSIiIiIdMZEiIiIi0hETKSIiIiIdMZEiIiIi0hETKSIiIiIdMZEiIiIi0hETKSIiIiIdMZEiIiIi0hETKSIiIiIdMZEiIiIi0hETKSIiIiIdMZEiIiIi0hETKSIiIiIdMZEiIiIi0hETKSIiIiIdMZEiIiIi0hETKSIiIiIdMZEiIiIi0hETKSIiIiIdMZEiIiIi0hETKSIiIiIdMZEiIiIi0hETKSIiIiIdMZEiIiIi0hETKSIiIiIdMZEiIiIi0hETKSIiIiIdMZEiIiIi0hETKSIiIiIdMZEiIiIi0hETKSIiIiIdMZEiIiIi0hETKSIiIiIdMZEiIiIi0hETKSIiIiIdMZEiIiIi0hETKSIiIiIdMZEiIiIi0hETKSIiIiIdMZEiIiIi0hETKSIiIiIdMZEiIiIi0hETKSIiIiIdMZEiIiIi0hETKSpWeno6JowcjLs/jsGEkYORnp5u6CYRERGVO2aGbgCVPy1btsSZM2ek6YjwBFSpUgUtWrTA6dOnDdgyIioLKSkpGNavO/69/g+G7X8Jhw+Ewc7OztDNIiqXmEgZgczMTMTExGgVO3jwYFy5cqXYeWfOnEGDBg3w66+/al23r68vrK2ttY4nIsOqXbs24uLipOnoqAewt7eHt7c3bty4YcCWEZVPTKSMQExMDJo1a6aXZV25cqVEy4qKioK/v79e6iai0lU4iSooLi4OtWvXZjJFVAgTKSPg6+uLqKioF8aNHTsWkZGR0rRCoUCrwC44dTgcqampUnlAQABWrlypdd1EVP6lpKQ8M4lSi4uLQ0pKCi/zERXARMoIWFtba3VWqGD/p/v378POzg579uzB7q2/ISUlBU5OTlIczzIRVQzaXtovfKZ5w64DmPj7RSx5rSHe6NlZKre3t9fqDzOAl/bJODCRIolKpQIAyGQyVKtWDUqlUppXrVo1yGQyCCGkOKoYStJHrqBr954gO/EGrl6yQt5De53q5oHU8HS9tK9Ont74ueg8bZfHS/uGx+9/6WMiRUUIIfD06VOYmppKZU+fPoUQwoCtIl391z5yxR1ItcUDqeFpe2m/4D4SFRWF9Kxs7D4UiR4dA2BrJS8yX9u6ybD4/S99MsGj4zOlpqbCzs4OKSkpUCgUhm5OqZPL5cjJyZGm33jjDTRr1gxRUVHYsGGDVG5hYYHs7GxDNJF0oOtfpIUPpLowlr9IKwOZTCa9zsjIgLm5Ofbs2YPu3btDqVTCxsZGms/DRsXB779uSnL8ZyL1HMaWSN26dQseHh4vjEtISECtWrXKoEVkSEqlUjqQmpubG7o5VMoKJlIA0KVLFwQFBSEiIgLh4eEa83jYqPyM/ftfkuO/UYxsvmrVKnh6esLS0hKtWrXioJLPUKtWLZiZPf9qr5mZGZMookqocHIUHh6OTz75hEkU0QtU+kRq06ZNmDhxImbMmIGzZ8+icePGCAkJQXJysqGbVi4plcpnJlNmZmYaHdCJqHJ5UZLEJIqoqEqfSC1ZsgQjR47E8OHDUb9+faxevRrW1tb46aefDN20ckupVCIhIQG2traQyWSwtbVFQkICkygiI/CsZIlJFFHxKvVdezk5OYiKisK0adOkMhMTEwQHB2sMPKmWnZ2t0YlaPQilUqk0uiTC1dUVSUlJCA8PR5cuXWBubm50n4GxU29vbnfjk5OTA6VSye+/ETP2739J1rtSJ1IPHjyASqWCs7OzRrmzs3OxdzHMmzcPs2bNKlIeFhZWYe880IfCfSTIuHD7Gzduf+NmrNs/MzNT69hKnUiV1LRp0zBx4kRpOjU1Fe7u7ujatatR3LVXWOG/SMm4cPsbN25/42bs27/gY9FepFInUtWqVYOpqSmSkpI0ypOSkuDi4lIkXi6XQy4vOl6Gubm5Ue5Iasa+/saO29+4cfsbN2Pd/iVZ50rd2dzCwgLNmjXDgQMHpLK8vDwcOHAAAQEBBmwZERERVQaV+owUAEycOBFDhw5F8+bN0bJlSyxbtgwZGRkYPny4oZtGREREFVylT6T69++P+/fvY/r06UhMTESTJk2wb9++Ih3QiYiIiEqq0idSADB27FiMHTvW0M0gIiKiSqZS95EiIiIiKk1MpIiIiIh0ZBSX9nSlfiRCScaTqEyUSiUyMzORmppqlLe/Gjtuf+PG7W/cjH37q4/72jwaiYnUc6SlpQEA3N3dDdwSIiIiKmtpaWmws7N7boxM8EmUz5SXl4e7d++iSpUqkMlkhm5OmVOP7H779m2jHNnd2HH7Gzduf+Nm7NtfCIG0tDS4ubnBxOT5vaB4Ruo5TExMULNmTUM3w+AUCoVRfpEoH7e/ceP2N27GvP1fdCZKjZ3NiYiIiHTERIqIiIhIR0yk6JnkcjlmzJhR7IOcqfLj9jdu3P7Gjdtfe+xsTkRERKQjnpEiIiIi0hETKSIiIiIdMZEiIiIi0hETKQO6efMmZDIZzp8/DwCIiIiATCbDkydP9LL8YcOGITQ0VC/Leh5PT08sW7asRO/Rtm0ymQw7duzQqV1lRQiBUaNGwdHRUWN7lldl8Znqui9r07a1a9fC3t5e57bpQ0Xb5sUJCgrC+PHjS70eXfY3bdpW+PeTtMPjgv5xQE4q1+7duwcHBwdDN+O59u3bh7Vr1yIiIgIvvfQSqlWrZugmVWr9+/dH9+7dDdqGst7mMpkM27dvL5MDYEXh7u6Oe/fu8ftmhMrbcYGJFJVLOTk5sLCwgIuLi6Gb8kJxcXFwdXVFmzZtSrUe9WdizJRKJaysrGBlZWXQdmizzbm9Sk95/n0oze2uVCqN8gHCauV1u/PSXinat28f2rVrB3t7e1StWhU9e/ZEXFyczsubPHkyevbsKU0vW7YMMpkM+/btk8pq166NH374QeN9ixcvhqurK6pWrYoxY8ZAqVRK87KzszF58mTUqFEDNjY2aNWqFSIiIjTef+zYMbRv3x5WVlZwd3fHuHHjkJGRoXW7VSoVJk6cKH0OU6dOLfJE7aCgIIwdOxbjx49HtWrVEBISAkDzFG6bNm3w4Ycfarzv/v37MDc3x5EjR7ReH30aNmwY3n//fdy6dQsymQyenp5SO8aNG4fq1avD0tIS7dq1w5kzZ6T3FXd5aseOHRrPdJw5cyaaNGmCH374AV5eXrC0tCxSvxACTk5O2LJli1TWpEkTuLq6StPHjh2DXC5HZmamVPbgwQP06dMH1tbWqFOnDv744w+N5V66dAkvv/wybG1t4ezsjMGDB+PBgwfS/Ly8PMybNw9eXl6wsrJC48aNNdqgjdjYWHTo0AGWlpaoX78+wsPDNearL91s2rQJgYGBsLS0xPr16zU+u+vXr0MmkyEmJkbjvUuXLoW3t7fW61MSz9rmz9qHDx8+jJYtW0Iul8PV1RUfffQRcnNzpeUFBQVh3LhxmDp1KhwdHeHi4oKZM2dK89XL79Onj0Z9hb366qsYO3asND1+/HiNzyYnJwc2NjbYv3+/FJOXl/fMegHgyZMnePvtt+Hk5ASFQoFOnTohOjpaI2bnzp3w9/eHpaUlXnrpJcyaNUtj/V4kIyMDQ4YMga2tLVxdXfHll18WifH09MScOXMwZMgQKBQKjBo1SuPSXl5eHmrWrIlvvvlG433nzp2DiYkJEhIStF6fknrWdn/RPvei48Oz9v/CeFwoB8cFQaVmy5YtYuvWrSI2NlacO3dO9OrVSzRs2FCoVCohhBDx8fECgDh37pwQQohDhw4JAOLx48fFLu+PP/4QdnZ2Ijc3VwghRGhoqKhWrZr48MMPhRBC/PvvvwKAiI2NFUIIMXToUKFQKMS7774rrl69Kv78809hbW0tvvvuO2mZb7/9tmjTpo04cuSIuHHjhli0aJGQy+Xi+vXrQgghbty4IWxsbMTSpUvF9evXxfHjx0XTpk3FsGHDpGV4eHiIpUuXPvNzWLBggXBwcBBbt24VV65cESNGjBBVqlQRvXv3lmICAwOFra2tmDJlioiJiRExMTFCCCEAiO3btwshhFi5cqWoVauWyMvLk963YsUKjbIXrY++PXnyRMyePVvUrFlT3Lt3TyQnJwshhBg3bpxwc3MTe/bsEZcvXxZDhw4VDg4O4uHDh0IIIdasWSPs7Ow0lrV9+3ZR8Cs5Y8YMYWNjI7p16ybOnj0roqOji21D3759xZgxY4QQQjx69EhYWFgIOzs7cfXqVSGEEHPnzhVt27aV4gGImjVrig0bNojY2Fgxbtw4YWtrK7Xt8ePHwsnJSUybNk1cvXpVnD17VnTp0kV07NhRWsbcuXOFr6+v2Ldvn4iLixNr1qwRcrlcRERECCFevC+rVCrh5+cnOnfuLM6fPy8OHz4smjZtqrG91d8PT09PsXXrVvHPP/+Iu3fvFvnsmjdvLj799FON5Tdr1kwq02Z9SuJZ27y4ffjff/8V1tbW4r333hNXr14V27dvF9WqVRMzZsyQlhcYGCgUCoWYOXOmuH79uvj555+FTCYTYWFhQgghkpOTBQCxZs0ajfoKW758uWjQoIE03aRJE1GtWjXxzTffCCGEOHbsmDA3NxcZGRla1SuEEMHBwaJXr17izJkz4vr162LSpEmiatWq0r5y5MgRoVAoxNq1a0VcXJwICwsTnp6eYubMmdIyCm7T4owePVrUqlVL7N+/X1y4cEH07NlTVKlSRXzwwQdSjIeHh1AoFGLx4sXixo0b4saNG0V+PydPnizatWunsexJkyZplL1ofXRR3HbXZp/T9vhQeP8vjMcFwx8XmEiVofv37wsA4uLFi0KIkidSjx8/FiYmJuLMmTMiLy9PODo6innz5olWrVoJIYRYt26dqFGjhhQ/dOhQ4eHhIX3BhBDitddeE/379xdCCJGQkCBMTU3FnTt3NOrp3LmzmDZtmhBCiBEjRohRo0ZpzD969KgwMTERWVlZQogXf2FcXV3FwoULpWmlUilq1qxZ5AvTtGnTIu8t+IVJTk4WZmZm4siRI9L8gIAA6QdDm/UpDUuXLhUeHh7SdHp6ujA3Nxfr16+XynJycoSbm5v0OWibSJmbmz/zwKlW8AC6Y8cO0apVK9G7d2/pABocHCw+/vhjKR6ARuKRnp4uAIi9e/cKIYSYM2eO6Nq1q0Ydt2/fFgDEtWvXxNOnT4W1tbU4ceKERsyIESPEwIEDhRAv3pf/+usvYWZmprGt9u7dW2witWzZMo33Fv7sli5dKry9vaXpa9euCQBSIvmi9dFF4W0uRPH78Mcffyzq1q2r8SO/atUqYWtrKx0wAwMDiyQALVq0kPZrIV6cjAghxIULF4RMJhPJyclSQj1nzhzp+z537lzRpk0bjfY+r96jR48KhUIhnj59qhHj7e0tvv32WyFE/nfriy++0Jj/66+/CldXV63anpaWJiwsLMTmzZulsocPHworK6siiVRoaKjGewv/fp47d07IZDKRkJAghMhP1mvUqCF9D7RZH10Ut9112eeedXwovP8XxuOC4Y8L7CNVimJjYzF9+nScOnUKDx48QF5eHgDg1q1b8PPzK/Hy7O3t0bhxY0RERMDCwgIWFhYYNWoUZsyYgfT0dBw+fBiBgYEa72nQoAFMTU2laVdXV1y8eBEAcPHiRahUKvj4+Gi8Jzs7G1WrVgUAREdH48KFCxqnlIUQyMvLQ3x8POrVq/fcNqekpODevXto1aqVVGZmZobmzZsXOY3brFmz5y7LyckJXbt2xfr169G+fXvEx8cjMjIS3377rdbrUxbi4uKgVCrRtm1bqczc3BwtW7bE1atXS7QsDw8PODk5PTcmMDAQH3zwAe7fv4/Dhw8jKCgILi4uiIiIwIgRI3DixAlMnTpV4z2NGjWSXtvY2EChUCA5ORlA/jY/dOgQbG1tn7lumZmZ6NKli8a8nJwcNG3aVKv1unr1Ktzd3eHm5iaVBQQEFBvbvHnz5y5rwIABmDx5Mk6ePInWrVtj/fr18Pf3h6+vr1brU3h/+S8K78NXr15FQECAxiXbtm3bIj09Hf/++y9q1aoFQHN7APnfU/X20Jafnx8cHR1x+PBhWFhYoGnTpujZsydWrVoFANK+UdDz6o2OjkZ6enqR705WVpZ0CSo6OhrHjx/H559/Ls1XqVR4+vQpMjMzYW1t/dw2x8XFIScnR+P3wdHREXXr1i0S+6L9oEmTJqhXrx42bNiAjz76CIcPH0ZycjJee+01rddHV4W3uzb7nLbHhxetN48Lhj8uMJEqRb169YKHhwe+//57uLm5IS8vD35+fsjJydF5mUFBQYiIiIBcLkdgYCAcHR1Rr149HDt2DIcPH8akSZM04gt3TJTJZNIXNj09HaampoiKitL4UgGQfgDS09PxzjvvYNy4cUXaoj4I6IuNjc0LYwYNGoRx48ZhxYoV2LBhAxo2bIiGDRtKbX3R+pQXJiYmRX4wCvZRUNPmM2nYsKF0AD18+DA+//xzuLi4YMGCBThz5gyUSmWRTtEv2i969eqFBQsWFKnL1dUVly5dAgDs3r0bNWrU0JhfGs/letFn4OLigk6dOmHDhg1o3bo1NmzYgNGjR0vzX7Q+ZdnWZ3ne9tCWTCZDhw4dpN+HoKAgNGrUCNnZ2bh06RJOnDiByZMna11veno6XF1di+1Lou6jlp6ejlmzZqFv375FYorr0/dfaPv7oE6kNmzYgG7dukkHS23WR19t02af0/b4oM1687hg2OMCE6lS8vDhQ1y7dg3ff/892rdvDyC/c95/FRgYiJ9++glmZmbo1q0bgPwv0W+//Ybr168X+YvzeZo2bQqVSoXk5GSpjYX5+/vjypUrqF27tk7ttbOzg6urK06dOoUOHToAAHJzcxEVFQV/f/8SL693794YNWoU9u3bhw0bNmDIkCElWp+y4O3tDQsLCxw/fhweHh4A8pOkM2fOSGPjODk5IS0tDRkZGdIPha7j4chkMrRv3x47d+7E5cuX0a5dO1hbWyM7OxvffvstmjdvXqIDvL+/P7Zu3QpPT0+YmRX9iahfvz7kcjlu3bpV5C9dbdWrVw+3b9/GvXv3pAPLyZMndVoWkP9DOnXqVAwcOBD//PMPBgwYIM170fqUpnr16mHr1q0QQkhnpY4fP44qVaqgZs2aWi/H3NwcKpXqhXGBgYH4/vvvIZfL8fnnn8PExAQdOnTAokWLkJ2drXGW9EX8/f2RmJgIMzOzZ3Zw9/f3x7Vr13T+ffD29oa5uTlOnTolHYAfP36M69ev67RvvfHGG/j0008RFRWFLVu2YPXq1SVaH3150T6n7+MDjwuGPS7wrr1S4uDggKpVq+K7777DjRs3cPDgQUycOPE/L7dDhw5IS0vDrl27pC9HUFAQ1q9fD1dX1xJdpvDx8cGgQYMwZMgQbNu2DfHx8Th9+jTmzZuH3bt3AwA+/PBDnDhxAmPHjsX58+cRGxuLnTt3atwd9CIffPAB5s+fjx07diAmJgbvvfeezoOO2tjYIDQ0FJ999hmuXr2KgQMHlmh9yoKNjQ1Gjx6NKVOmYN++fbhy5QpGjhyJzMxMjBgxAgDQqlUrWFtb4+OPP0ZcXBw2bNiAtWvX6lyn+kezSZMmsLW1lQ6g69evL/EBacyYMXj06BEGDhyIM2fOIC4uDn/99ReGDx8OlUqFKlWqYPLkyZgwYQJ+/vlnxMXF4ezZs1ixYgV+/vlnreoIDg6Gj48Phg4diujoaBw9ehSffPKJLqsOAOjbty/S0tIwevRodOzYUeOS4YvWpzS99957uH37Nt5//33ExMRg586dmDFjBiZOnAgTE+1/fj09PXHgwAEkJibi8ePHz4wLCgrClStXpIRaXbZ+/foSJ9TBwcEICAhAaGgowsLCcPPmTZw4cQKffPIJ/v77bwDA9OnT8csvv2DWrFm4fPkyrl69io0bN+LTTz/Vqg5bW1uMGDECU6ZMwcGDB3Hp0iUMGzasRJ9NQZ6enmjTpg1GjBgBlUqFV155pUTroy8v2uf0fXzgccGwxwUmUqXExMQEGzduRFRUFPz8/DBhwgQsWrToPy/XwcEBDRs2hJOTk9QHpEOHDsjLy9PpL7g1a9ZgyJAhmDRpEurWrYvQ0FCcOXNGo+/G4cOHcf36dbRv3x5NmzbF9OnTNQ5ULzJp0iQMHjwYQ4cORUBAAKpUqYI+ffqUuK1qgwYNQnR0NNq3b1/kNPKL1qeszJ8/H/369cPgwYPh7++PGzdu4K+//pIGkXN0dMS6deuwZ88eNGzYEL/99luRW89LIjAwECqVSuMvz6CgoCJl2nBzc8Px48ehUqnQtWtXNGzYEOPHj4e9vb10gJszZw4+++wzzJs3D/Xq1UO3bt2we/dueHl5aVWHiYkJtm/fjqysLLRs2RJvv/22Rj+bkqpSpQp69eqF6OhoDBo0qMTrU1pq1KiBPXv24PTp02jcuDHeffddjBgxQutEQ+3LL79EeHg43N3dn9sPrWHDhrC3t5cSakD3/UAmk2HPnj3o0KEDhg8fDh8fHwwYMAAJCQlwdnYGAISEhGDXrl0ICwtDixYt0Lp1ayxdulQ6E6uNRYsWoX379ujVqxeCg4PRrl27F/aLeR7170OfPn00xhvTZn305UX7nL6PDzwuGPa4IBOFO2oQERERkVZ4RoqIiIhIR0ykiIiIiHTERIqIiIhIR0ykiIiIiHTERIqIiIhIR0ykiIiIiHTERIqIiIhIR0ykiIiIiHTERIqIypWIiAjIZDKdHxdRXty8eRMymUznZyhqa+3atf/5obtEpDsmUkSkd8OGDYNMJoNMJoO5uTmcnZ3RpUsX/PTTT9JT5p+lTZs2uHfvHuzs7Mqotc/30UcfSY/dUIuJiYFMJsOwYcM0yteuXQu5XI6srKwybCERGRITKSIqFd26dcO9e/dw8+ZN7N27Fx07dsQHH3yAnj17Ijc3t9j3KJVKWFhYwMXFBTKZrIxbXLyOHTvi2rVrSExMlMoOHToEd3d3REREaMQeOnQIrVu31njGGxFVbkykiKhUyOVyuLi4oEaNGvD398fHH3+MnTt3Yu/evVi7di2A/AfJfvPNN3jllVdgY2ODzz//XOPSXmpqKqysrLB3716NZW/fvh1VqlRBZmYmAOD27dt4/fXXYW9vD0dHR/Tu3Rs3b96U4ocNG4bQ0FAsXrwYrq6uqFq1KsaMGQOlUvnC9WjXrh3Mzc01kqaIiAiMGTMGjx490qgnIiICHTt21Hj/P//8g44dO8La2hqNGzdGZGSkxvxjx46hffv2sLKygru7O8aNG4eMjAxpfnZ2NiZPnowaNWrAxsYGrVq1KpLAFRQdHY2OHTuiSpUqUCgUaNasGf7+++8XricR6YaJFBGVmU6dOqFx48bYtm2bVDZz5kz06dMHFy9exFtvvaURr1Ao0LNnT2zYsEGjfP369QgNDYW1tTWUSiVCQkJQpUoVHD16FMePH4etrS26deuGnJwc6T2HDh1CXFwcDh06hJ9//hlr166VErrnsbGxQYsWLXDo0CGpLCIiAp07d0bbtm2l8n/++Qe3bt0qkkh98sknmDx5Ms6fPw8fHx8MHDhQOiMXFxeHbt26oV+/frhw4QI2bdqEY8eOYezYsdL7x44di8jISGzcuBEXLlzAa6+9hm7duiE2NrbY9g4aNAg1a9bEmTNnEBUVhY8++gjm5uYvXE8i0pEgItKzoUOHit69exc7r3///qJevXpCCCEAiPHjx2vMP3TokAAgHj9+LIQQYvv27cLW1lZkZGQIIYRISUkRlpaWYu/evUIIIX799VdRt25dkZeXJy0jOztbWFlZib/++ktqj4eHh8jNzZViXnvtNdG/f3+t1ueTTz4RPj4+QgghLl++LBQKhcjNzRVffPGFGDJkiBBCiB9//FFYWlqKp0+fCiGEiI+PFwDEDz/8IC3n8uXLAoC4evWqEEKIESNGiFGjRmnUdfToUWFiYiKysrJEQkKCMDU1FXfu3NGI6dy5s5g2bZoQQog1a9YIOzs7aV6VKlXE2rVrtVovIvrveEaKiMqUEEKj/1Pz5s2fG9+9e3eYm5vjjz/+AABs3boVCoUCwcHBAPIvZd24cQNVqlSBra0tbG1t4ejoiKdPnyIuLk5aToMGDWBqaipNu7q6Ijk5Was2BwUF4fr167h37x4iIiLQrl07mJqaIjAwULrMFhERgTZt2kAul2u8t1GjRhp1ApDqjY6Oxtq1a6V229raIiQkBHl5eYiPj8fFixehUqng4+OjEXP48GGNdSto4sSJePvttxEcHIz58+c/M46I9MPM0A0gIuNy9epVeHl5SdM2NjbPjbewsMCrr76KDRs2YMCAAdiwYQP69+8PM7P8n6/09HQ0a9YM69evL/JeJycn6XXhy1symeyFdxCqtW3bFhYWFjh06BAOHTqEwMBAAECLFi3w4MED/PPPP4iIiMA777xT5L0F61UnkOp609PT8c4772DcuHFF3lerVi1cuHABpqamiIqK0kgCAcDW1rbYts6cORNvvPEGdu/ejb1792LGjBnYuHEj+vTpo9W6ElHJMJEiojJz8OBBXLx4ERMmTCjR+wYNGoQuXbrg8uXLOHjwIObOnSvN8/f3x6ZNm1C9enUoFAp9NxkAYGVlJXXyPnz4MKZMmQIgP0lq3bo1fvzxR9y+fbtI/6gX8ff3x5UrV1C7du1i5zdt2hQqlQrJyclo37691sv18fGBj48PJkyYgIEDB2LNmjVMpIhKCS/tEVGpyM7ORmJiIu7cuYOzZ8/iiy++QO/evdGzZ08MGTKkRMvq0KEDXFxcMGjQIHh5eaFVq1bSvEGDBqFatWro3bs3jh49ivj4eERERGDcuHH4999/9bY+HTt2xMaNG/H06VP4+/tL5YGBgVixYoXUKb0kPvzwQ5w4cQJjx47F+fPnERsbi507d0qdzX18fDBo0CAMGTIE27ZtQ3x8PE6fPo158+Zh9+7dRZaXlZWFsWPHIiIiAgkJCTh+/DjOnDmDevXq/beVJ6JnYiJFRKVi3759cHV1haenJ7p164ZDhw5h+fLl2LlzZ5HLVC8ik8kwcOBAREdHY9CgQRrzrK2tceTIEdSqVQt9+/ZFvXr1MGLECDx9+lSvZ6g6duyItLQ0tG3bVrqsCOQnUmlpadIwCSXRqFEjHD58GNevX0f79u3RtGlTTJ8+HW5ublLMmjVrMGTIEEyaNAl169ZFaGgozpw5g1q1ahVZnqmpKR4+fIghQ4bAx8cHr7/+Ol5++WXMmjVL9xUnoueSCSGEoRtBREREVBHxjBQRERGRjphIEZFRO3r0qMbQAoX/ERE9Dy/tEZFRy8rKwp07d545/1l31BERAUykiIiIiHTGS3tEREREOmIiRURERKQjJlJEREREOmIiRURERKQjJlJEREREOmIiRURERKQjJlJEREREOvo/5kBkL8M02+o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7" y="1844824"/>
            <a:ext cx="5722937" cy="466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865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PCA Projection of Vehicle Dataset</a:t>
            </a:r>
            <a:endParaRPr lang="de-DE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245" y="1124744"/>
            <a:ext cx="6128826" cy="4510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331640" y="5517232"/>
            <a:ext cx="6768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- buses </a:t>
            </a:r>
            <a:r>
              <a:rPr lang="en-US" dirty="0"/>
              <a:t>forming a distinct </a:t>
            </a:r>
            <a:r>
              <a:rPr lang="en-US" dirty="0" smtClean="0"/>
              <a:t>cluster</a:t>
            </a:r>
          </a:p>
          <a:p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/>
              <a:t>overlap between vans and </a:t>
            </a:r>
            <a:r>
              <a:rPr lang="en-US" dirty="0" smtClean="0"/>
              <a:t>cars</a:t>
            </a:r>
          </a:p>
          <a:p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/>
              <a:t>partially separable </a:t>
            </a:r>
            <a:r>
              <a:rPr lang="en-US" dirty="0" smtClean="0"/>
              <a:t>groups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644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406" y="79938"/>
            <a:ext cx="8229600" cy="1143000"/>
          </a:xfrm>
        </p:spPr>
        <p:txBody>
          <a:bodyPr/>
          <a:lstStyle/>
          <a:p>
            <a:r>
              <a:rPr lang="de-DE" dirty="0" smtClean="0"/>
              <a:t>K-Means Clusters</a:t>
            </a:r>
            <a:endParaRPr lang="de-DE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908720"/>
            <a:ext cx="6386513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7544" y="5445224"/>
            <a:ext cx="835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smtClean="0"/>
              <a:t>Two </a:t>
            </a:r>
            <a:r>
              <a:rPr lang="en-US" dirty="0"/>
              <a:t>Large Clearly Separated 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smtClean="0"/>
              <a:t>The </a:t>
            </a:r>
            <a:r>
              <a:rPr lang="en-US" dirty="0"/>
              <a:t>green cluster is very small and contains only a few observations. 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smtClean="0"/>
              <a:t>Most </a:t>
            </a:r>
            <a:r>
              <a:rPr lang="en-US" dirty="0"/>
              <a:t>separation occurs horizontally along </a:t>
            </a:r>
            <a:r>
              <a:rPr lang="en-US" dirty="0" smtClean="0"/>
              <a:t>PC1 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Some </a:t>
            </a:r>
            <a:r>
              <a:rPr lang="en-US" dirty="0"/>
              <a:t>overlap exists near the center of the plot. </a:t>
            </a:r>
            <a:endParaRPr lang="de-DE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096544" y="6045388"/>
            <a:ext cx="18002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[0.52186034 0.16729768] </a:t>
            </a:r>
            <a:endParaRPr kumimoji="0" lang="de-DE" altLang="de-DE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34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Compare Clusters with True Classes</a:t>
            </a:r>
            <a:endParaRPr lang="de-DE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601" y="1700808"/>
            <a:ext cx="2967228" cy="2342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192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On-screen Show (4:3)</PresentationFormat>
  <Paragraphs>31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Datenset</vt:lpstr>
      <vt:lpstr>Exploratory Data Analysis</vt:lpstr>
      <vt:lpstr>Feature Correlation Heatmap</vt:lpstr>
      <vt:lpstr>Highly Correlated Pairs</vt:lpstr>
      <vt:lpstr>Mean Feature Value per Class</vt:lpstr>
      <vt:lpstr>Overfit/Underfit Results</vt:lpstr>
      <vt:lpstr>Train Models and Compares Metrics</vt:lpstr>
      <vt:lpstr>Confusion Matrics - SVM</vt:lpstr>
      <vt:lpstr>PCA Projection of Vehicle Dataset</vt:lpstr>
      <vt:lpstr>K-Means Clusters</vt:lpstr>
      <vt:lpstr>Compare Clusters with True Classes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Datensatz</dc:title>
  <dc:creator>Anastasia Leiker</dc:creator>
  <cp:lastModifiedBy>Anastasia Leiker</cp:lastModifiedBy>
  <cp:revision>22</cp:revision>
  <dcterms:created xsi:type="dcterms:W3CDTF">2026-04-10T09:20:05Z</dcterms:created>
  <dcterms:modified xsi:type="dcterms:W3CDTF">2026-05-08T09:28:27Z</dcterms:modified>
</cp:coreProperties>
</file>